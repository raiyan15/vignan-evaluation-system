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67" r:id="rId3"/>
    <p:sldId id="265" r:id="rId4"/>
    <p:sldId id="281" r:id="rId5"/>
    <p:sldId id="282" r:id="rId6"/>
    <p:sldId id="280" r:id="rId7"/>
    <p:sldId id="266" r:id="rId8"/>
    <p:sldId id="272" r:id="rId9"/>
    <p:sldId id="270" r:id="rId10"/>
    <p:sldId id="269" r:id="rId11"/>
    <p:sldId id="268" r:id="rId12"/>
    <p:sldId id="260" r:id="rId13"/>
    <p:sldId id="283" r:id="rId14"/>
    <p:sldId id="261" r:id="rId15"/>
    <p:sldId id="279" r:id="rId16"/>
    <p:sldId id="273" r:id="rId17"/>
    <p:sldId id="274" r:id="rId18"/>
    <p:sldId id="275" r:id="rId19"/>
    <p:sldId id="276" r:id="rId20"/>
    <p:sldId id="277"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66" d="100"/>
          <a:sy n="66" d="100"/>
        </p:scale>
        <p:origin x="59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84C20-24EE-4CD0-B0B9-D5BEF12DC74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4A6940-E26F-42CB-9DD1-D2B324E7B0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796B04D-7EF8-4891-B354-15EF1DF07DC5}"/>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5" name="Footer Placeholder 4">
            <a:extLst>
              <a:ext uri="{FF2B5EF4-FFF2-40B4-BE49-F238E27FC236}">
                <a16:creationId xmlns:a16="http://schemas.microsoft.com/office/drawing/2014/main" id="{75862768-B830-4D4C-A48D-C1AA2FDFE1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63B314-9F8B-435C-92A0-12F58F3F272B}"/>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29924598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B114E-8664-41A4-99A6-8ADA473451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896952-016A-4495-9055-21BA8F6E5D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DA6E2A-71BA-4137-884F-1F197832F0FA}"/>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5" name="Footer Placeholder 4">
            <a:extLst>
              <a:ext uri="{FF2B5EF4-FFF2-40B4-BE49-F238E27FC236}">
                <a16:creationId xmlns:a16="http://schemas.microsoft.com/office/drawing/2014/main" id="{3072BEE7-3000-43EA-B811-E8058307B7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71593F-F751-4C78-905B-FE5D65E52C8F}"/>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3916494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6D937-F600-4279-9884-467E4D575F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E9E5BF-194C-4B6D-AD95-A921935A67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411108-AE86-43B1-B9CB-3AB9BE555B50}"/>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5" name="Footer Placeholder 4">
            <a:extLst>
              <a:ext uri="{FF2B5EF4-FFF2-40B4-BE49-F238E27FC236}">
                <a16:creationId xmlns:a16="http://schemas.microsoft.com/office/drawing/2014/main" id="{3A586E42-2F36-4A26-A200-F7400B49F3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F61B7B8-4B56-44A2-A1FD-3C2F3831B466}"/>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4169942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CD51D-7DF7-48DD-A027-21281F847E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0EE2C43-F470-45A8-9341-1BF6BE4C29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6F40FB-EF80-4C70-A5D7-18E7458CC12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72B6A7-81F0-4667-A5A4-6029A96E22D0}"/>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6" name="Footer Placeholder 5">
            <a:extLst>
              <a:ext uri="{FF2B5EF4-FFF2-40B4-BE49-F238E27FC236}">
                <a16:creationId xmlns:a16="http://schemas.microsoft.com/office/drawing/2014/main" id="{0B66BC9C-03DA-4624-B541-7999D92A29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F0161E-0700-4031-A11A-2B6027B9F170}"/>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145671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09C5A-B1B5-46D4-AFCC-B2F2C9C7577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C2551D-7596-4A08-85B4-36A4B7D065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4449AB-454E-4500-9018-754E9EFBAF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8F7A9BB-E59F-41BD-B2CB-FED6F68A55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EA3755-099F-4924-9506-13D00F9040B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730620-90DE-45EA-B19C-FB60BB675D67}"/>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8" name="Footer Placeholder 7">
            <a:extLst>
              <a:ext uri="{FF2B5EF4-FFF2-40B4-BE49-F238E27FC236}">
                <a16:creationId xmlns:a16="http://schemas.microsoft.com/office/drawing/2014/main" id="{6B249910-1D18-4FE8-90DA-B56D1E402F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1A83431-85EC-4515-A756-0AE58E04D7DD}"/>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3841500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BBC84-ED56-4B5D-9AAD-AC2057C2FF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51BFB0-7E64-4D31-8359-59D3DCED9092}"/>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4" name="Footer Placeholder 3">
            <a:extLst>
              <a:ext uri="{FF2B5EF4-FFF2-40B4-BE49-F238E27FC236}">
                <a16:creationId xmlns:a16="http://schemas.microsoft.com/office/drawing/2014/main" id="{D3C75A7C-110D-42FE-97D5-EA449881DF0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DDF29A-4A3F-4A4A-ADBA-2B0DAFE2199A}"/>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18866738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9E7F12-A068-4A9C-851C-7B6A3007C074}"/>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3" name="Footer Placeholder 2">
            <a:extLst>
              <a:ext uri="{FF2B5EF4-FFF2-40B4-BE49-F238E27FC236}">
                <a16:creationId xmlns:a16="http://schemas.microsoft.com/office/drawing/2014/main" id="{636AC4F0-691F-4AEC-89F8-ACC1BDC452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A191789-6D50-495B-A812-F2D12BEFB3C8}"/>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173874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61452-43BE-44B1-A646-CEB153D9D0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1E409D-13E3-44FD-B99F-0BD75C03FA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7B86AB9-C3A9-47DD-AACB-95C27B8871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DBE750-2053-4831-8934-82A728F46BBD}"/>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6" name="Footer Placeholder 5">
            <a:extLst>
              <a:ext uri="{FF2B5EF4-FFF2-40B4-BE49-F238E27FC236}">
                <a16:creationId xmlns:a16="http://schemas.microsoft.com/office/drawing/2014/main" id="{EA5C4401-BCFF-4F60-87A5-A6E566BB4E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CE00E0-D04D-43CE-B9EC-95BCF6EDB1CE}"/>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1914540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95DB8-9D72-45F3-B1BC-D81424EF86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C9BACD9-FB87-4545-A4FA-68A901FF79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43090D3-4347-41F7-BFD9-D50FEF00BC3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2138286-AB4E-45D3-AF5F-9353CA9CE688}"/>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6" name="Footer Placeholder 5">
            <a:extLst>
              <a:ext uri="{FF2B5EF4-FFF2-40B4-BE49-F238E27FC236}">
                <a16:creationId xmlns:a16="http://schemas.microsoft.com/office/drawing/2014/main" id="{8E89908C-9B2F-4DB4-B1D8-A988FAAF57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D55C30-B274-4063-B8F7-37FB37B97FBA}"/>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1197234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11B80-B95A-4BAD-836D-712A805AA49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26242-8980-41D8-86C5-7A381D702A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12FBBE-6125-4001-95BA-810952A2748A}"/>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5" name="Footer Placeholder 4">
            <a:extLst>
              <a:ext uri="{FF2B5EF4-FFF2-40B4-BE49-F238E27FC236}">
                <a16:creationId xmlns:a16="http://schemas.microsoft.com/office/drawing/2014/main" id="{A38E667F-D47D-494C-A712-B7F03463F79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8FC28C-B694-4559-8622-0A79C7746F49}"/>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3211120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B0D6E7-C611-4F8E-8A4D-2DD5762D1F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3801CE-A86B-4A6A-82EE-D0A7FBD477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8A11AF-8F04-4A32-9617-F5FD72A3996F}"/>
              </a:ext>
            </a:extLst>
          </p:cNvPr>
          <p:cNvSpPr>
            <a:spLocks noGrp="1"/>
          </p:cNvSpPr>
          <p:nvPr>
            <p:ph type="dt" sz="half" idx="10"/>
          </p:nvPr>
        </p:nvSpPr>
        <p:spPr/>
        <p:txBody>
          <a:bodyPr/>
          <a:lstStyle/>
          <a:p>
            <a:fld id="{3016B3AF-A14A-4287-A86E-1C0F9A81F9B1}" type="datetimeFigureOut">
              <a:rPr lang="en-US" smtClean="0"/>
              <a:t>2/19/2026</a:t>
            </a:fld>
            <a:endParaRPr lang="en-US"/>
          </a:p>
        </p:txBody>
      </p:sp>
      <p:sp>
        <p:nvSpPr>
          <p:cNvPr id="5" name="Footer Placeholder 4">
            <a:extLst>
              <a:ext uri="{FF2B5EF4-FFF2-40B4-BE49-F238E27FC236}">
                <a16:creationId xmlns:a16="http://schemas.microsoft.com/office/drawing/2014/main" id="{535A97EF-2EA4-4ED0-A287-CF2B5F7E72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0B562-B7BC-44BA-B46F-64728BDD9171}"/>
              </a:ext>
            </a:extLst>
          </p:cNvPr>
          <p:cNvSpPr>
            <a:spLocks noGrp="1"/>
          </p:cNvSpPr>
          <p:nvPr>
            <p:ph type="sldNum" sz="quarter" idx="12"/>
          </p:nvPr>
        </p:nvSpPr>
        <p:spPr/>
        <p:txBody>
          <a:bodyPr/>
          <a:lstStyle/>
          <a:p>
            <a:fld id="{566076DF-701E-4337-A1AC-33917212CF07}" type="slidenum">
              <a:rPr lang="en-US" smtClean="0"/>
              <a:t>‹#›</a:t>
            </a:fld>
            <a:endParaRPr lang="en-US"/>
          </a:p>
        </p:txBody>
      </p:sp>
    </p:spTree>
    <p:extLst>
      <p:ext uri="{BB962C8B-B14F-4D97-AF65-F5344CB8AC3E}">
        <p14:creationId xmlns:p14="http://schemas.microsoft.com/office/powerpoint/2010/main" val="1941951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65F44C-BD8C-439F-A538-CE6FA25913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EBB8C3-2554-4921-8B5A-41410746DB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3762ED-B7DD-4BEE-8CBA-AE221503DD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16B3AF-A14A-4287-A86E-1C0F9A81F9B1}" type="datetimeFigureOut">
              <a:rPr lang="en-US" smtClean="0"/>
              <a:t>2/19/2026</a:t>
            </a:fld>
            <a:endParaRPr lang="en-US"/>
          </a:p>
        </p:txBody>
      </p:sp>
      <p:sp>
        <p:nvSpPr>
          <p:cNvPr id="5" name="Footer Placeholder 4">
            <a:extLst>
              <a:ext uri="{FF2B5EF4-FFF2-40B4-BE49-F238E27FC236}">
                <a16:creationId xmlns:a16="http://schemas.microsoft.com/office/drawing/2014/main" id="{EC7D6002-1BBA-4ED0-8509-C399A5785D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93276A5-CD32-4CEA-B8C8-BE254C2814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6076DF-701E-4337-A1AC-33917212CF07}" type="slidenum">
              <a:rPr lang="en-US" smtClean="0"/>
              <a:t>‹#›</a:t>
            </a:fld>
            <a:endParaRPr lang="en-US"/>
          </a:p>
        </p:txBody>
      </p:sp>
    </p:spTree>
    <p:extLst>
      <p:ext uri="{BB962C8B-B14F-4D97-AF65-F5344CB8AC3E}">
        <p14:creationId xmlns:p14="http://schemas.microsoft.com/office/powerpoint/2010/main" val="2673126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demoqa.com/"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bio-rdjira.dsone.3ds.com/browse/XINV-635" TargetMode="External"/><Relationship Id="rId2" Type="http://schemas.openxmlformats.org/officeDocument/2006/relationships/hyperlink" Target="https://bio-rdjira.dsone.3ds.com/browse/XINV-1619" TargetMode="External"/><Relationship Id="rId1" Type="http://schemas.openxmlformats.org/officeDocument/2006/relationships/slideLayout" Target="../slideLayouts/slideLayout4.xml"/><Relationship Id="rId5" Type="http://schemas.openxmlformats.org/officeDocument/2006/relationships/hyperlink" Target="https://bio-rdjira.dsone.3ds.com/browse/XINV-1414" TargetMode="External"/><Relationship Id="rId4" Type="http://schemas.openxmlformats.org/officeDocument/2006/relationships/hyperlink" Target="https://bio-rdjira.dsone.3ds.com/browse/XINV-1649"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bio-rdjira.dsone.3ds.com/browse/XINV-1657" TargetMode="External"/><Relationship Id="rId2" Type="http://schemas.openxmlformats.org/officeDocument/2006/relationships/hyperlink" Target="https://bio-rdjira.dsone.3ds.com/browse/XINV-1587" TargetMode="External"/><Relationship Id="rId1" Type="http://schemas.openxmlformats.org/officeDocument/2006/relationships/slideLayout" Target="../slideLayouts/slideLayout2.xml"/><Relationship Id="rId4" Type="http://schemas.openxmlformats.org/officeDocument/2006/relationships/hyperlink" Target="https://dsxdev-online.dsone.3ds.com/enovia/common/emxNavigator.jsp?physicalId=7D5CB056E91F1200670D1DA000052646"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CBA0F3A-84FE-4083-94C7-0F3F5BC0DE9C}"/>
              </a:ext>
            </a:extLst>
          </p:cNvPr>
          <p:cNvSpPr>
            <a:spLocks noGrp="1"/>
          </p:cNvSpPr>
          <p:nvPr>
            <p:ph type="ctrTitle"/>
          </p:nvPr>
        </p:nvSpPr>
        <p:spPr>
          <a:xfrm>
            <a:off x="550333" y="1122363"/>
            <a:ext cx="10752667" cy="2387600"/>
          </a:xfrm>
        </p:spPr>
        <p:txBody>
          <a:bodyPr>
            <a:normAutofit fontScale="90000"/>
          </a:bodyPr>
          <a:lstStyle/>
          <a:p>
            <a:r>
              <a:rPr lang="en-US" dirty="0"/>
              <a:t>		From Classroom to Corporate: </a:t>
            </a:r>
            <a:br>
              <a:rPr lang="en-US" dirty="0"/>
            </a:br>
            <a:r>
              <a:rPr lang="en-US" dirty="0"/>
              <a:t>Agile, Software Testing &amp; Automation</a:t>
            </a:r>
          </a:p>
        </p:txBody>
      </p:sp>
      <p:sp>
        <p:nvSpPr>
          <p:cNvPr id="6" name="Subtitle 5">
            <a:extLst>
              <a:ext uri="{FF2B5EF4-FFF2-40B4-BE49-F238E27FC236}">
                <a16:creationId xmlns:a16="http://schemas.microsoft.com/office/drawing/2014/main" id="{59422052-52AE-4C39-BEDA-0F59D8A5A747}"/>
              </a:ext>
            </a:extLst>
          </p:cNvPr>
          <p:cNvSpPr>
            <a:spLocks noGrp="1"/>
          </p:cNvSpPr>
          <p:nvPr>
            <p:ph type="subTitle" idx="1"/>
          </p:nvPr>
        </p:nvSpPr>
        <p:spPr>
          <a:xfrm>
            <a:off x="1524000" y="3602038"/>
            <a:ext cx="9144000" cy="470429"/>
          </a:xfrm>
        </p:spPr>
        <p:txBody>
          <a:bodyPr/>
          <a:lstStyle/>
          <a:p>
            <a:r>
              <a:rPr lang="en-US" dirty="0"/>
              <a:t>								Sai Kumar</a:t>
            </a:r>
          </a:p>
        </p:txBody>
      </p:sp>
    </p:spTree>
    <p:extLst>
      <p:ext uri="{BB962C8B-B14F-4D97-AF65-F5344CB8AC3E}">
        <p14:creationId xmlns:p14="http://schemas.microsoft.com/office/powerpoint/2010/main" val="31703785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F78E-A24A-42A4-AB41-1F2235263350}"/>
              </a:ext>
            </a:extLst>
          </p:cNvPr>
          <p:cNvSpPr>
            <a:spLocks noGrp="1"/>
          </p:cNvSpPr>
          <p:nvPr>
            <p:ph type="title"/>
          </p:nvPr>
        </p:nvSpPr>
        <p:spPr>
          <a:xfrm>
            <a:off x="420215" y="202132"/>
            <a:ext cx="10515600" cy="866272"/>
          </a:xfrm>
        </p:spPr>
        <p:txBody>
          <a:bodyPr>
            <a:normAutofit/>
          </a:bodyPr>
          <a:lstStyle/>
          <a:p>
            <a:r>
              <a:rPr lang="en-US" sz="3200" b="1" dirty="0"/>
              <a:t>Traditional Software Development Methodology </a:t>
            </a:r>
          </a:p>
        </p:txBody>
      </p:sp>
      <p:sp>
        <p:nvSpPr>
          <p:cNvPr id="3" name="Content Placeholder 2">
            <a:extLst>
              <a:ext uri="{FF2B5EF4-FFF2-40B4-BE49-F238E27FC236}">
                <a16:creationId xmlns:a16="http://schemas.microsoft.com/office/drawing/2014/main" id="{07C772C4-2796-4970-B3E5-270D66D4B514}"/>
              </a:ext>
            </a:extLst>
          </p:cNvPr>
          <p:cNvSpPr>
            <a:spLocks noGrp="1"/>
          </p:cNvSpPr>
          <p:nvPr>
            <p:ph sz="half" idx="1"/>
          </p:nvPr>
        </p:nvSpPr>
        <p:spPr>
          <a:xfrm>
            <a:off x="338666" y="1251284"/>
            <a:ext cx="10942141" cy="5197642"/>
          </a:xfrm>
        </p:spPr>
        <p:txBody>
          <a:bodyPr>
            <a:normAutofit/>
          </a:bodyPr>
          <a:lstStyle/>
          <a:p>
            <a:r>
              <a:rPr lang="en-US" sz="2400" dirty="0"/>
              <a:t>Traditional software development methodologies are based on pre-organized phases/stages </a:t>
            </a:r>
          </a:p>
          <a:p>
            <a:pPr marL="0" indent="0">
              <a:buNone/>
            </a:pPr>
            <a:r>
              <a:rPr lang="en-US" sz="2400" dirty="0"/>
              <a:t>	Req. Analysis -&gt; Design -&gt; Dev -&gt; Testing -&gt; Maintenance</a:t>
            </a:r>
          </a:p>
          <a:p>
            <a:r>
              <a:rPr lang="en-US" sz="2400" dirty="0"/>
              <a:t>Here the flow of development is unidirectional.</a:t>
            </a:r>
          </a:p>
          <a:p>
            <a:r>
              <a:rPr lang="en-US" sz="2400" dirty="0"/>
              <a:t>Traditional approaches are suited when requirements are well understood.</a:t>
            </a:r>
          </a:p>
          <a:p>
            <a:r>
              <a:rPr lang="en-US" sz="2400" dirty="0"/>
              <a:t>Traditional development methodologies are suitable only when the requirements are precise i.e., when the customer knows exactly what they want and can confidently say that there wont be any major changes in scope throughout the project development.</a:t>
            </a:r>
          </a:p>
          <a:p>
            <a:pPr lvl="1"/>
            <a:r>
              <a:rPr lang="en-US" sz="2000" dirty="0"/>
              <a:t>What if customer doesn’t know full requirements?</a:t>
            </a:r>
          </a:p>
          <a:p>
            <a:pPr lvl="1"/>
            <a:r>
              <a:rPr lang="en-US" sz="2000" dirty="0"/>
              <a:t>What if customer want to add new requirement(s)?</a:t>
            </a:r>
          </a:p>
          <a:p>
            <a:pPr lvl="1"/>
            <a:r>
              <a:rPr lang="en-US" sz="2000" dirty="0"/>
              <a:t>What if customer want to change in requirement?</a:t>
            </a:r>
          </a:p>
          <a:p>
            <a:pPr marL="0" indent="0">
              <a:buNone/>
            </a:pPr>
            <a:r>
              <a:rPr lang="en-US" sz="2400" dirty="0"/>
              <a:t>The answer is adopt </a:t>
            </a:r>
            <a:r>
              <a:rPr lang="en-US" sz="2400" b="1" dirty="0"/>
              <a:t>Agile Software Engineering Process/Model</a:t>
            </a:r>
          </a:p>
          <a:p>
            <a:endParaRPr lang="en-US" sz="2400" dirty="0"/>
          </a:p>
          <a:p>
            <a:endParaRPr lang="en-US" b="0" i="0" dirty="0">
              <a:solidFill>
                <a:srgbClr val="737373"/>
              </a:solidFill>
              <a:effectLst/>
              <a:latin typeface="Montserrat" panose="00000500000000000000" pitchFamily="2" charset="0"/>
            </a:endParaRPr>
          </a:p>
          <a:p>
            <a:endParaRPr lang="en-US" b="1" dirty="0"/>
          </a:p>
        </p:txBody>
      </p:sp>
    </p:spTree>
    <p:extLst>
      <p:ext uri="{BB962C8B-B14F-4D97-AF65-F5344CB8AC3E}">
        <p14:creationId xmlns:p14="http://schemas.microsoft.com/office/powerpoint/2010/main" val="2130966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1">
            <a:extLst>
              <a:ext uri="{FF2B5EF4-FFF2-40B4-BE49-F238E27FC236}">
                <a16:creationId xmlns:a16="http://schemas.microsoft.com/office/drawing/2014/main" id="{E22E92D4-E577-4820-8181-BFD907F21534}"/>
              </a:ext>
            </a:extLst>
          </p:cNvPr>
          <p:cNvSpPr>
            <a:spLocks noChangeArrowheads="1"/>
          </p:cNvSpPr>
          <p:nvPr/>
        </p:nvSpPr>
        <p:spPr bwMode="auto">
          <a:xfrm>
            <a:off x="458787" y="194203"/>
            <a:ext cx="1103048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Agenda for (3 days)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p:txBody>
      </p:sp>
      <p:sp>
        <p:nvSpPr>
          <p:cNvPr id="3" name="Content Placeholder 2">
            <a:extLst>
              <a:ext uri="{FF2B5EF4-FFF2-40B4-BE49-F238E27FC236}">
                <a16:creationId xmlns:a16="http://schemas.microsoft.com/office/drawing/2014/main" id="{B5877A92-7260-45FA-A765-047C8B07E1BA}"/>
              </a:ext>
            </a:extLst>
          </p:cNvPr>
          <p:cNvSpPr>
            <a:spLocks noGrp="1"/>
          </p:cNvSpPr>
          <p:nvPr>
            <p:ph sz="half" idx="1"/>
          </p:nvPr>
        </p:nvSpPr>
        <p:spPr>
          <a:xfrm>
            <a:off x="385011" y="1155031"/>
            <a:ext cx="11319309" cy="3965609"/>
          </a:xfrm>
        </p:spPr>
        <p:txBody>
          <a:bodyPr>
            <a:normAutofit/>
          </a:bodyPr>
          <a:lstStyle/>
          <a:p>
            <a:pPr marL="514350" indent="-514350" eaLnBrk="0" fontAlgn="base" hangingPunct="0">
              <a:spcBef>
                <a:spcPct val="0"/>
              </a:spcBef>
              <a:spcAft>
                <a:spcPct val="0"/>
              </a:spcAft>
              <a:buFont typeface="+mj-lt"/>
              <a:buAutoNum type="arabicPeriod"/>
            </a:pPr>
            <a:r>
              <a:rPr lang="en-US" dirty="0"/>
              <a:t>How Agile works - As a student, study Agile process</a:t>
            </a:r>
          </a:p>
          <a:p>
            <a:pPr marL="514350" indent="-514350" eaLnBrk="0" fontAlgn="base" hangingPunct="0">
              <a:spcBef>
                <a:spcPct val="0"/>
              </a:spcBef>
              <a:spcAft>
                <a:spcPct val="0"/>
              </a:spcAft>
              <a:buFont typeface="+mj-lt"/>
              <a:buAutoNum type="arabicPeriod"/>
            </a:pPr>
            <a:r>
              <a:rPr lang="en-US" dirty="0"/>
              <a:t>Agile way of testing - As a student, learn Agile testing</a:t>
            </a:r>
          </a:p>
          <a:p>
            <a:pPr marL="514350" indent="-514350" eaLnBrk="0" fontAlgn="base" hangingPunct="0">
              <a:spcBef>
                <a:spcPct val="0"/>
              </a:spcBef>
              <a:spcAft>
                <a:spcPct val="0"/>
              </a:spcAft>
              <a:buFont typeface="+mj-lt"/>
              <a:buAutoNum type="arabicPeriod"/>
            </a:pPr>
            <a:r>
              <a:rPr lang="en-US" dirty="0"/>
              <a:t>Software Testing types - As a student, understand Software Testing types</a:t>
            </a:r>
          </a:p>
          <a:p>
            <a:pPr marL="514350" indent="-514350" eaLnBrk="0" fontAlgn="base" hangingPunct="0">
              <a:spcBef>
                <a:spcPct val="0"/>
              </a:spcBef>
              <a:spcAft>
                <a:spcPct val="0"/>
              </a:spcAft>
              <a:buFont typeface="+mj-lt"/>
              <a:buAutoNum type="arabicPeriod"/>
            </a:pPr>
            <a:r>
              <a:rPr lang="en-US" dirty="0"/>
              <a:t>Unit testing framework - As a student, practice unit testing examples</a:t>
            </a:r>
          </a:p>
          <a:p>
            <a:pPr marL="514350" indent="-514350" eaLnBrk="0" fontAlgn="base" hangingPunct="0">
              <a:spcBef>
                <a:spcPct val="0"/>
              </a:spcBef>
              <a:spcAft>
                <a:spcPct val="0"/>
              </a:spcAft>
              <a:buFont typeface="+mj-lt"/>
              <a:buAutoNum type="arabicPeriod"/>
            </a:pPr>
            <a:r>
              <a:rPr lang="en-US" dirty="0"/>
              <a:t>API testing - As a student, perform API testing.</a:t>
            </a:r>
          </a:p>
          <a:p>
            <a:pPr marL="514350" indent="-514350" eaLnBrk="0" fontAlgn="base" hangingPunct="0">
              <a:spcBef>
                <a:spcPct val="0"/>
              </a:spcBef>
              <a:spcAft>
                <a:spcPct val="0"/>
              </a:spcAft>
              <a:buFont typeface="+mj-lt"/>
              <a:buAutoNum type="arabicPeriod"/>
            </a:pPr>
            <a:r>
              <a:rPr lang="en-US" dirty="0"/>
              <a:t>Web Automation - As a student, automate user interactions.</a:t>
            </a:r>
          </a:p>
        </p:txBody>
      </p:sp>
    </p:spTree>
    <p:extLst>
      <p:ext uri="{BB962C8B-B14F-4D97-AF65-F5344CB8AC3E}">
        <p14:creationId xmlns:p14="http://schemas.microsoft.com/office/powerpoint/2010/main" val="1962921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F78E-A24A-42A4-AB41-1F2235263350}"/>
              </a:ext>
            </a:extLst>
          </p:cNvPr>
          <p:cNvSpPr>
            <a:spLocks noGrp="1"/>
          </p:cNvSpPr>
          <p:nvPr>
            <p:ph type="title"/>
          </p:nvPr>
        </p:nvSpPr>
        <p:spPr>
          <a:xfrm>
            <a:off x="338667" y="161925"/>
            <a:ext cx="10693400" cy="742850"/>
          </a:xfrm>
        </p:spPr>
        <p:txBody>
          <a:bodyPr>
            <a:normAutofit/>
          </a:bodyPr>
          <a:lstStyle/>
          <a:p>
            <a:r>
              <a:rPr lang="en-US" sz="2800" b="1" dirty="0"/>
              <a:t>Agile process(model) in Software Engineering</a:t>
            </a:r>
          </a:p>
        </p:txBody>
      </p:sp>
      <p:sp>
        <p:nvSpPr>
          <p:cNvPr id="3" name="Content Placeholder 2">
            <a:extLst>
              <a:ext uri="{FF2B5EF4-FFF2-40B4-BE49-F238E27FC236}">
                <a16:creationId xmlns:a16="http://schemas.microsoft.com/office/drawing/2014/main" id="{07C772C4-2796-4970-B3E5-270D66D4B514}"/>
              </a:ext>
            </a:extLst>
          </p:cNvPr>
          <p:cNvSpPr>
            <a:spLocks noGrp="1"/>
          </p:cNvSpPr>
          <p:nvPr>
            <p:ph sz="half" idx="1"/>
          </p:nvPr>
        </p:nvSpPr>
        <p:spPr>
          <a:xfrm>
            <a:off x="338667" y="1049154"/>
            <a:ext cx="10836264" cy="5399771"/>
          </a:xfrm>
        </p:spPr>
        <p:txBody>
          <a:bodyPr>
            <a:normAutofit fontScale="92500" lnSpcReduction="20000"/>
          </a:bodyPr>
          <a:lstStyle/>
          <a:p>
            <a:pPr marL="0" indent="0">
              <a:buNone/>
            </a:pPr>
            <a:r>
              <a:rPr lang="en-US" b="1" dirty="0"/>
              <a:t>What is Agile?</a:t>
            </a:r>
          </a:p>
          <a:p>
            <a:pPr marL="514350" indent="-514350">
              <a:buFont typeface="+mj-lt"/>
              <a:buAutoNum type="arabicPeriod"/>
            </a:pPr>
            <a:r>
              <a:rPr lang="en-US" b="1" dirty="0"/>
              <a:t>Agile</a:t>
            </a:r>
            <a:r>
              <a:rPr lang="en-US" dirty="0"/>
              <a:t> is a software development approach where products are built </a:t>
            </a:r>
            <a:r>
              <a:rPr lang="en-US" b="1" dirty="0"/>
              <a:t>incrementally and iteratively.</a:t>
            </a:r>
          </a:p>
          <a:p>
            <a:pPr marL="514350" indent="-514350">
              <a:buFont typeface="+mj-lt"/>
              <a:buAutoNum type="arabicPeriod"/>
            </a:pPr>
            <a:r>
              <a:rPr lang="en-US" dirty="0"/>
              <a:t>Instead of one big delivery at the end, Agile delivers </a:t>
            </a:r>
            <a:r>
              <a:rPr lang="en-US" b="1" dirty="0"/>
              <a:t>small, usable pieces frequently</a:t>
            </a:r>
            <a:r>
              <a:rPr lang="en-US" dirty="0"/>
              <a:t>.</a:t>
            </a:r>
          </a:p>
          <a:p>
            <a:pPr marL="514350" indent="-514350">
              <a:buFont typeface="+mj-lt"/>
              <a:buAutoNum type="arabicPeriod"/>
            </a:pPr>
            <a:r>
              <a:rPr lang="en-US" b="1" dirty="0"/>
              <a:t>Agile</a:t>
            </a:r>
            <a:r>
              <a:rPr lang="en-US" dirty="0"/>
              <a:t> focuses on:</a:t>
            </a:r>
          </a:p>
          <a:p>
            <a:pPr lvl="1"/>
            <a:r>
              <a:rPr lang="en-US" dirty="0"/>
              <a:t>Customer collaboration</a:t>
            </a:r>
          </a:p>
          <a:p>
            <a:pPr lvl="1"/>
            <a:r>
              <a:rPr lang="en-US" dirty="0"/>
              <a:t>Rapid delivery of working software</a:t>
            </a:r>
          </a:p>
          <a:p>
            <a:pPr lvl="1"/>
            <a:r>
              <a:rPr lang="en-US" dirty="0"/>
              <a:t>Flexibility to change requirements</a:t>
            </a:r>
          </a:p>
          <a:p>
            <a:pPr lvl="1"/>
            <a:r>
              <a:rPr lang="en-US" dirty="0"/>
              <a:t>Continuous improvement</a:t>
            </a:r>
          </a:p>
          <a:p>
            <a:pPr marL="514350" indent="-514350">
              <a:buFont typeface="+mj-lt"/>
              <a:buAutoNum type="arabicPeriod"/>
            </a:pPr>
            <a:r>
              <a:rPr lang="en-US" dirty="0"/>
              <a:t>Agile is a philosophy/mindset/Concept. The are </a:t>
            </a:r>
            <a:r>
              <a:rPr lang="en-US" b="1" dirty="0"/>
              <a:t>frameworks</a:t>
            </a:r>
            <a:r>
              <a:rPr lang="en-US" dirty="0"/>
              <a:t> that implement Agile include:</a:t>
            </a:r>
          </a:p>
          <a:p>
            <a:pPr lvl="1"/>
            <a:r>
              <a:rPr lang="en-US" b="1" dirty="0"/>
              <a:t>Scrum</a:t>
            </a:r>
          </a:p>
          <a:p>
            <a:pPr lvl="1"/>
            <a:r>
              <a:rPr lang="en-US" b="1" dirty="0"/>
              <a:t>Kanban</a:t>
            </a:r>
          </a:p>
          <a:p>
            <a:pPr lvl="1"/>
            <a:r>
              <a:rPr lang="en-US" dirty="0" err="1"/>
              <a:t>SAFe</a:t>
            </a:r>
            <a:r>
              <a:rPr lang="en-US" dirty="0"/>
              <a:t> etc.</a:t>
            </a:r>
          </a:p>
          <a:p>
            <a:pPr marL="0" indent="0">
              <a:buNone/>
            </a:pPr>
            <a:endParaRPr lang="en-US" dirty="0"/>
          </a:p>
        </p:txBody>
      </p:sp>
    </p:spTree>
    <p:extLst>
      <p:ext uri="{BB962C8B-B14F-4D97-AF65-F5344CB8AC3E}">
        <p14:creationId xmlns:p14="http://schemas.microsoft.com/office/powerpoint/2010/main" val="37359171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F78E-A24A-42A4-AB41-1F2235263350}"/>
              </a:ext>
            </a:extLst>
          </p:cNvPr>
          <p:cNvSpPr>
            <a:spLocks noGrp="1"/>
          </p:cNvSpPr>
          <p:nvPr>
            <p:ph type="title"/>
          </p:nvPr>
        </p:nvSpPr>
        <p:spPr>
          <a:xfrm>
            <a:off x="434519" y="182880"/>
            <a:ext cx="10515600" cy="798897"/>
          </a:xfrm>
        </p:spPr>
        <p:txBody>
          <a:bodyPr>
            <a:normAutofit/>
          </a:bodyPr>
          <a:lstStyle/>
          <a:p>
            <a:r>
              <a:rPr lang="en-US" sz="3200" b="1" dirty="0"/>
              <a:t>Agile process(model) in Software Engineering</a:t>
            </a:r>
          </a:p>
        </p:txBody>
      </p:sp>
      <p:sp>
        <p:nvSpPr>
          <p:cNvPr id="3" name="Content Placeholder 2">
            <a:extLst>
              <a:ext uri="{FF2B5EF4-FFF2-40B4-BE49-F238E27FC236}">
                <a16:creationId xmlns:a16="http://schemas.microsoft.com/office/drawing/2014/main" id="{07C772C4-2796-4970-B3E5-270D66D4B514}"/>
              </a:ext>
            </a:extLst>
          </p:cNvPr>
          <p:cNvSpPr>
            <a:spLocks noGrp="1"/>
          </p:cNvSpPr>
          <p:nvPr>
            <p:ph sz="half" idx="1"/>
          </p:nvPr>
        </p:nvSpPr>
        <p:spPr>
          <a:xfrm>
            <a:off x="338667" y="1126156"/>
            <a:ext cx="10968954" cy="5380522"/>
          </a:xfrm>
        </p:spPr>
        <p:txBody>
          <a:bodyPr>
            <a:normAutofit fontScale="85000" lnSpcReduction="20000"/>
          </a:bodyPr>
          <a:lstStyle/>
          <a:p>
            <a:pPr marL="0" indent="0">
              <a:buNone/>
            </a:pPr>
            <a:r>
              <a:rPr lang="en-US" b="1" dirty="0"/>
              <a:t>Scrum</a:t>
            </a:r>
            <a:r>
              <a:rPr lang="en-US" dirty="0"/>
              <a:t> is a lightweight Agile framework used to manage and deliver products in </a:t>
            </a:r>
            <a:r>
              <a:rPr lang="en-US" b="1" dirty="0"/>
              <a:t>fixed time-boxed iterations called Sprints</a:t>
            </a:r>
            <a:r>
              <a:rPr lang="en-US" dirty="0"/>
              <a:t> (2–4 weeks).</a:t>
            </a:r>
          </a:p>
          <a:p>
            <a:pPr marL="0" indent="0">
              <a:buNone/>
            </a:pPr>
            <a:r>
              <a:rPr lang="en-US" b="1" dirty="0"/>
              <a:t>Scrum Structure</a:t>
            </a:r>
            <a:endParaRPr lang="en-US" dirty="0"/>
          </a:p>
          <a:p>
            <a:r>
              <a:rPr lang="en-US" b="1" dirty="0"/>
              <a:t>Roles</a:t>
            </a:r>
            <a:endParaRPr lang="en-US" dirty="0"/>
          </a:p>
          <a:p>
            <a:pPr lvl="1"/>
            <a:r>
              <a:rPr lang="en-US" dirty="0"/>
              <a:t>Product Owner</a:t>
            </a:r>
          </a:p>
          <a:p>
            <a:pPr lvl="1"/>
            <a:r>
              <a:rPr lang="en-US" dirty="0"/>
              <a:t>Scrum Master</a:t>
            </a:r>
          </a:p>
          <a:p>
            <a:pPr lvl="1"/>
            <a:r>
              <a:rPr lang="en-US" dirty="0"/>
              <a:t>Development Team</a:t>
            </a:r>
          </a:p>
          <a:p>
            <a:pPr lvl="1"/>
            <a:r>
              <a:rPr lang="en-US" dirty="0"/>
              <a:t>QA Team</a:t>
            </a:r>
          </a:p>
          <a:p>
            <a:r>
              <a:rPr lang="en-US" b="1" dirty="0"/>
              <a:t>Events</a:t>
            </a:r>
            <a:endParaRPr lang="en-US" dirty="0"/>
          </a:p>
          <a:p>
            <a:pPr lvl="1"/>
            <a:r>
              <a:rPr lang="en-US" dirty="0"/>
              <a:t>Sprint Planning</a:t>
            </a:r>
          </a:p>
          <a:p>
            <a:pPr lvl="1"/>
            <a:r>
              <a:rPr lang="en-US" dirty="0"/>
              <a:t>Daily Stand-up</a:t>
            </a:r>
          </a:p>
          <a:p>
            <a:pPr lvl="1"/>
            <a:r>
              <a:rPr lang="en-US" dirty="0"/>
              <a:t>Sprint Review</a:t>
            </a:r>
          </a:p>
          <a:p>
            <a:pPr lvl="1"/>
            <a:r>
              <a:rPr lang="en-US" dirty="0"/>
              <a:t>Sprint Retrospective</a:t>
            </a:r>
          </a:p>
          <a:p>
            <a:r>
              <a:rPr lang="en-US" b="1" dirty="0"/>
              <a:t>Artifacts</a:t>
            </a:r>
            <a:endParaRPr lang="en-US" dirty="0"/>
          </a:p>
          <a:p>
            <a:pPr lvl="1"/>
            <a:r>
              <a:rPr lang="en-US" dirty="0"/>
              <a:t>Product Backlog</a:t>
            </a:r>
          </a:p>
          <a:p>
            <a:pPr lvl="1"/>
            <a:r>
              <a:rPr lang="en-US" dirty="0"/>
              <a:t>Sprint Backlog</a:t>
            </a:r>
          </a:p>
          <a:p>
            <a:pPr lvl="1"/>
            <a:r>
              <a:rPr lang="en-US" dirty="0"/>
              <a:t>Increment</a:t>
            </a:r>
          </a:p>
          <a:p>
            <a:pPr>
              <a:buFont typeface="Arial" panose="020B0604020202020204" pitchFamily="34" charset="0"/>
              <a:buChar char="•"/>
            </a:pPr>
            <a:endParaRPr lang="en-US" dirty="0"/>
          </a:p>
          <a:p>
            <a:pPr marL="0" indent="0">
              <a:buNone/>
            </a:pPr>
            <a:endParaRPr lang="en-US" dirty="0"/>
          </a:p>
        </p:txBody>
      </p:sp>
      <p:pic>
        <p:nvPicPr>
          <p:cNvPr id="8" name="Picture 7">
            <a:extLst>
              <a:ext uri="{FF2B5EF4-FFF2-40B4-BE49-F238E27FC236}">
                <a16:creationId xmlns:a16="http://schemas.microsoft.com/office/drawing/2014/main" id="{481D886E-E02B-4A08-A601-F83F4EFCA812}"/>
              </a:ext>
            </a:extLst>
          </p:cNvPr>
          <p:cNvPicPr>
            <a:picLocks noChangeAspect="1"/>
          </p:cNvPicPr>
          <p:nvPr/>
        </p:nvPicPr>
        <p:blipFill>
          <a:blip r:embed="rId2"/>
          <a:stretch>
            <a:fillRect/>
          </a:stretch>
        </p:blipFill>
        <p:spPr>
          <a:xfrm>
            <a:off x="4856759" y="3613172"/>
            <a:ext cx="6093360" cy="2598639"/>
          </a:xfrm>
          <a:prstGeom prst="rect">
            <a:avLst/>
          </a:prstGeom>
        </p:spPr>
      </p:pic>
    </p:spTree>
    <p:extLst>
      <p:ext uri="{BB962C8B-B14F-4D97-AF65-F5344CB8AC3E}">
        <p14:creationId xmlns:p14="http://schemas.microsoft.com/office/powerpoint/2010/main" val="3276418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F78E-A24A-42A4-AB41-1F2235263350}"/>
              </a:ext>
            </a:extLst>
          </p:cNvPr>
          <p:cNvSpPr>
            <a:spLocks noGrp="1"/>
          </p:cNvSpPr>
          <p:nvPr>
            <p:ph type="title"/>
          </p:nvPr>
        </p:nvSpPr>
        <p:spPr>
          <a:xfrm>
            <a:off x="516467" y="161925"/>
            <a:ext cx="10515600" cy="422275"/>
          </a:xfrm>
        </p:spPr>
        <p:txBody>
          <a:bodyPr>
            <a:normAutofit fontScale="90000"/>
          </a:bodyPr>
          <a:lstStyle/>
          <a:p>
            <a:r>
              <a:rPr lang="en-US" sz="2800" b="1" dirty="0"/>
              <a:t>Agile Software Engineering Process</a:t>
            </a:r>
          </a:p>
        </p:txBody>
      </p:sp>
      <p:sp>
        <p:nvSpPr>
          <p:cNvPr id="3" name="Content Placeholder 2">
            <a:extLst>
              <a:ext uri="{FF2B5EF4-FFF2-40B4-BE49-F238E27FC236}">
                <a16:creationId xmlns:a16="http://schemas.microsoft.com/office/drawing/2014/main" id="{07C772C4-2796-4970-B3E5-270D66D4B514}"/>
              </a:ext>
            </a:extLst>
          </p:cNvPr>
          <p:cNvSpPr>
            <a:spLocks noGrp="1"/>
          </p:cNvSpPr>
          <p:nvPr>
            <p:ph sz="half" idx="1"/>
          </p:nvPr>
        </p:nvSpPr>
        <p:spPr>
          <a:xfrm>
            <a:off x="336883" y="4572000"/>
            <a:ext cx="6529227" cy="2122025"/>
          </a:xfrm>
        </p:spPr>
        <p:txBody>
          <a:bodyPr>
            <a:normAutofit/>
          </a:bodyPr>
          <a:lstStyle/>
          <a:p>
            <a:r>
              <a:rPr lang="en-US" sz="2000" dirty="0"/>
              <a:t>During project inception, BA/Customer split the functional requirements into User Stories.</a:t>
            </a:r>
          </a:p>
          <a:p>
            <a:r>
              <a:rPr lang="en-US" sz="2000" dirty="0"/>
              <a:t>The Scrum Master or Product owner organizes these User Stories and segregates them into different Sprints.</a:t>
            </a:r>
          </a:p>
          <a:p>
            <a:r>
              <a:rPr lang="en-US" sz="2000" dirty="0"/>
              <a:t>In general, Sprint contains few User Stories to be delivered in 2-4 weeks, based on the complexity of user stories.</a:t>
            </a:r>
          </a:p>
        </p:txBody>
      </p:sp>
      <p:sp>
        <p:nvSpPr>
          <p:cNvPr id="4" name="Content Placeholder 3">
            <a:extLst>
              <a:ext uri="{FF2B5EF4-FFF2-40B4-BE49-F238E27FC236}">
                <a16:creationId xmlns:a16="http://schemas.microsoft.com/office/drawing/2014/main" id="{D90E776D-AB27-45FB-9702-D3C49F2765E3}"/>
              </a:ext>
            </a:extLst>
          </p:cNvPr>
          <p:cNvSpPr>
            <a:spLocks noGrp="1"/>
          </p:cNvSpPr>
          <p:nvPr>
            <p:ph sz="half" idx="2"/>
          </p:nvPr>
        </p:nvSpPr>
        <p:spPr>
          <a:xfrm>
            <a:off x="6866110" y="4489841"/>
            <a:ext cx="5155843" cy="2204184"/>
          </a:xfrm>
        </p:spPr>
        <p:txBody>
          <a:bodyPr>
            <a:noAutofit/>
          </a:bodyPr>
          <a:lstStyle/>
          <a:p>
            <a:r>
              <a:rPr lang="en-US" sz="2000" dirty="0"/>
              <a:t>Once the Sprint planning is done, the selected User Stories are once again split into Tasks so that the developer can have a clear roadmap to deliver quality output.</a:t>
            </a:r>
          </a:p>
          <a:p>
            <a:r>
              <a:rPr lang="en-US" sz="2000" dirty="0"/>
              <a:t>At the end of each Sprint, the customer gets a chance to review and predict the final outcome and can propose changes if any. </a:t>
            </a:r>
          </a:p>
        </p:txBody>
      </p:sp>
      <p:pic>
        <p:nvPicPr>
          <p:cNvPr id="6" name="Picture 5">
            <a:extLst>
              <a:ext uri="{FF2B5EF4-FFF2-40B4-BE49-F238E27FC236}">
                <a16:creationId xmlns:a16="http://schemas.microsoft.com/office/drawing/2014/main" id="{066E1546-CA41-48CA-8189-8C7BD82E888B}"/>
              </a:ext>
            </a:extLst>
          </p:cNvPr>
          <p:cNvPicPr>
            <a:picLocks noChangeAspect="1"/>
          </p:cNvPicPr>
          <p:nvPr/>
        </p:nvPicPr>
        <p:blipFill>
          <a:blip r:embed="rId2"/>
          <a:stretch>
            <a:fillRect/>
          </a:stretch>
        </p:blipFill>
        <p:spPr>
          <a:xfrm>
            <a:off x="1448240" y="529680"/>
            <a:ext cx="8448342" cy="3960161"/>
          </a:xfrm>
          <a:prstGeom prst="rect">
            <a:avLst/>
          </a:prstGeom>
        </p:spPr>
      </p:pic>
    </p:spTree>
    <p:extLst>
      <p:ext uri="{BB962C8B-B14F-4D97-AF65-F5344CB8AC3E}">
        <p14:creationId xmlns:p14="http://schemas.microsoft.com/office/powerpoint/2010/main" val="2683231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F78E-A24A-42A4-AB41-1F2235263350}"/>
              </a:ext>
            </a:extLst>
          </p:cNvPr>
          <p:cNvSpPr>
            <a:spLocks noGrp="1"/>
          </p:cNvSpPr>
          <p:nvPr>
            <p:ph type="title"/>
          </p:nvPr>
        </p:nvSpPr>
        <p:spPr>
          <a:xfrm>
            <a:off x="254000" y="200290"/>
            <a:ext cx="10803467" cy="422275"/>
          </a:xfrm>
        </p:spPr>
        <p:txBody>
          <a:bodyPr>
            <a:normAutofit fontScale="90000"/>
          </a:bodyPr>
          <a:lstStyle/>
          <a:p>
            <a:r>
              <a:rPr lang="en-US" sz="2800" b="1" dirty="0"/>
              <a:t>Agile process in Software Engineering</a:t>
            </a:r>
          </a:p>
        </p:txBody>
      </p:sp>
      <p:sp>
        <p:nvSpPr>
          <p:cNvPr id="3" name="Content Placeholder 2">
            <a:extLst>
              <a:ext uri="{FF2B5EF4-FFF2-40B4-BE49-F238E27FC236}">
                <a16:creationId xmlns:a16="http://schemas.microsoft.com/office/drawing/2014/main" id="{07C772C4-2796-4970-B3E5-270D66D4B514}"/>
              </a:ext>
            </a:extLst>
          </p:cNvPr>
          <p:cNvSpPr>
            <a:spLocks noGrp="1"/>
          </p:cNvSpPr>
          <p:nvPr>
            <p:ph sz="half" idx="1"/>
          </p:nvPr>
        </p:nvSpPr>
        <p:spPr>
          <a:xfrm>
            <a:off x="-76200" y="699557"/>
            <a:ext cx="7230533" cy="5958151"/>
          </a:xfrm>
        </p:spPr>
        <p:txBody>
          <a:bodyPr>
            <a:normAutofit fontScale="85000" lnSpcReduction="20000"/>
          </a:bodyPr>
          <a:lstStyle/>
          <a:p>
            <a:pPr marL="0" indent="0">
              <a:buNone/>
            </a:pPr>
            <a:r>
              <a:rPr lang="en-US" sz="2200" b="1" dirty="0"/>
              <a:t>1️⃣</a:t>
            </a:r>
            <a:r>
              <a:rPr lang="en-US" sz="2900" b="1" dirty="0"/>
              <a:t> </a:t>
            </a:r>
            <a:r>
              <a:rPr lang="en-US" sz="2100" b="1" dirty="0"/>
              <a:t>Scrum Workflow – Product Development (Most Common)</a:t>
            </a:r>
          </a:p>
          <a:p>
            <a:pPr lvl="1"/>
            <a:r>
              <a:rPr lang="en-US" sz="1900" b="1" dirty="0"/>
              <a:t>Scenario</a:t>
            </a:r>
            <a:r>
              <a:rPr lang="en-US" sz="1900" dirty="0"/>
              <a:t>: Developing an E-commerce web application</a:t>
            </a:r>
          </a:p>
          <a:p>
            <a:pPr lvl="1"/>
            <a:r>
              <a:rPr lang="en-US" sz="1900" b="1" dirty="0"/>
              <a:t>Step-by-Step Workflow</a:t>
            </a:r>
          </a:p>
          <a:p>
            <a:pPr marL="457200" lvl="1" indent="0">
              <a:buNone/>
            </a:pPr>
            <a:r>
              <a:rPr lang="en-US" sz="2800" b="1" dirty="0"/>
              <a:t>	</a:t>
            </a:r>
            <a:r>
              <a:rPr lang="en-US" sz="1900" b="1" dirty="0"/>
              <a:t>1. Product Backlog Creation</a:t>
            </a:r>
          </a:p>
          <a:p>
            <a:pPr lvl="3"/>
            <a:r>
              <a:rPr lang="en-US" sz="2100" dirty="0"/>
              <a:t>Product Owner collects requirements:</a:t>
            </a:r>
          </a:p>
          <a:p>
            <a:pPr lvl="4"/>
            <a:r>
              <a:rPr lang="en-US" sz="2100" dirty="0"/>
              <a:t>User login</a:t>
            </a:r>
          </a:p>
          <a:p>
            <a:pPr lvl="4"/>
            <a:r>
              <a:rPr lang="en-US" sz="2100" dirty="0"/>
              <a:t>Product search</a:t>
            </a:r>
          </a:p>
          <a:p>
            <a:pPr lvl="4"/>
            <a:r>
              <a:rPr lang="en-US" sz="2100" dirty="0"/>
              <a:t>Add to cart</a:t>
            </a:r>
          </a:p>
          <a:p>
            <a:pPr lvl="4"/>
            <a:r>
              <a:rPr lang="en-US" sz="2100" dirty="0"/>
              <a:t>Payment integration</a:t>
            </a:r>
          </a:p>
          <a:p>
            <a:pPr lvl="3"/>
            <a:r>
              <a:rPr lang="en-US" sz="2100" dirty="0"/>
              <a:t>Backlog item example:</a:t>
            </a:r>
          </a:p>
          <a:p>
            <a:pPr lvl="4"/>
            <a:r>
              <a:rPr lang="en-US" sz="2100" i="1" dirty="0">
                <a:highlight>
                  <a:srgbClr val="FFFF00"/>
                </a:highlight>
              </a:rPr>
              <a:t>As a user, I want to search products so that I can find items quickly. (UI-API-Testing(</a:t>
            </a:r>
            <a:r>
              <a:rPr lang="en-US" sz="2100" i="1" dirty="0" err="1">
                <a:highlight>
                  <a:srgbClr val="FFFF00"/>
                </a:highlight>
              </a:rPr>
              <a:t>Manual&amp;Automation</a:t>
            </a:r>
            <a:r>
              <a:rPr lang="en-US" sz="2100" i="1" dirty="0">
                <a:highlight>
                  <a:srgbClr val="FFFF00"/>
                </a:highlight>
              </a:rPr>
              <a:t>)</a:t>
            </a:r>
          </a:p>
          <a:p>
            <a:pPr lvl="5"/>
            <a:r>
              <a:rPr lang="en-US" sz="2100" i="1" dirty="0"/>
              <a:t>Books example - </a:t>
            </a:r>
            <a:r>
              <a:rPr lang="en-US" sz="2100" i="1" dirty="0">
                <a:hlinkClick r:id="rId2"/>
              </a:rPr>
              <a:t>https://demoqa.com/</a:t>
            </a:r>
            <a:endParaRPr lang="en-US" sz="2100" i="1" dirty="0"/>
          </a:p>
          <a:p>
            <a:pPr marL="457200" lvl="1" indent="0">
              <a:buNone/>
            </a:pPr>
            <a:r>
              <a:rPr lang="en-US" sz="2800" b="1" dirty="0"/>
              <a:t>	</a:t>
            </a:r>
            <a:r>
              <a:rPr lang="en-US" sz="1900" b="1" dirty="0"/>
              <a:t>2. Sprint Planning (2-Week Sprint)</a:t>
            </a:r>
          </a:p>
          <a:p>
            <a:pPr lvl="3"/>
            <a:r>
              <a:rPr lang="en-US" sz="1900" dirty="0"/>
              <a:t>Scrum Master selects items from backlog</a:t>
            </a:r>
          </a:p>
          <a:p>
            <a:pPr lvl="3"/>
            <a:r>
              <a:rPr lang="en-US" sz="1900" dirty="0"/>
              <a:t>Planning Poker to estimate Story Points</a:t>
            </a:r>
          </a:p>
          <a:p>
            <a:pPr lvl="3"/>
            <a:r>
              <a:rPr lang="en-US" sz="1900" dirty="0"/>
              <a:t>Breaks into tasks:</a:t>
            </a:r>
          </a:p>
          <a:p>
            <a:pPr lvl="4"/>
            <a:r>
              <a:rPr lang="en-US" sz="2100" dirty="0"/>
              <a:t>UI design</a:t>
            </a:r>
          </a:p>
          <a:p>
            <a:pPr lvl="4"/>
            <a:r>
              <a:rPr lang="en-US" sz="2100" dirty="0"/>
              <a:t>API development</a:t>
            </a:r>
          </a:p>
          <a:p>
            <a:pPr lvl="4"/>
            <a:r>
              <a:rPr lang="en-US" sz="2100" dirty="0"/>
              <a:t>Database schema</a:t>
            </a:r>
          </a:p>
          <a:p>
            <a:pPr lvl="4"/>
            <a:r>
              <a:rPr lang="en-US" sz="2100" dirty="0"/>
              <a:t>Test Plan</a:t>
            </a:r>
          </a:p>
          <a:p>
            <a:pPr marL="0" indent="0">
              <a:buNone/>
            </a:pPr>
            <a:endParaRPr lang="en-US" dirty="0"/>
          </a:p>
        </p:txBody>
      </p:sp>
      <p:sp>
        <p:nvSpPr>
          <p:cNvPr id="4" name="Content Placeholder 3">
            <a:extLst>
              <a:ext uri="{FF2B5EF4-FFF2-40B4-BE49-F238E27FC236}">
                <a16:creationId xmlns:a16="http://schemas.microsoft.com/office/drawing/2014/main" id="{D90E776D-AB27-45FB-9702-D3C49F2765E3}"/>
              </a:ext>
            </a:extLst>
          </p:cNvPr>
          <p:cNvSpPr>
            <a:spLocks noGrp="1"/>
          </p:cNvSpPr>
          <p:nvPr>
            <p:ph sz="half" idx="2"/>
          </p:nvPr>
        </p:nvSpPr>
        <p:spPr>
          <a:xfrm>
            <a:off x="7332132" y="622564"/>
            <a:ext cx="4605867" cy="6035145"/>
          </a:xfrm>
        </p:spPr>
        <p:txBody>
          <a:bodyPr>
            <a:noAutofit/>
          </a:bodyPr>
          <a:lstStyle/>
          <a:p>
            <a:pPr marL="0" indent="0">
              <a:buNone/>
            </a:pPr>
            <a:r>
              <a:rPr lang="en-US" sz="1600" b="1" dirty="0"/>
              <a:t>3. Sprint Execution</a:t>
            </a:r>
          </a:p>
          <a:p>
            <a:pPr lvl="1"/>
            <a:r>
              <a:rPr lang="en-US" sz="1600" dirty="0"/>
              <a:t>Developers code features</a:t>
            </a:r>
          </a:p>
          <a:p>
            <a:pPr lvl="1"/>
            <a:r>
              <a:rPr lang="en-US" sz="1600" dirty="0"/>
              <a:t>Testers validate functionality</a:t>
            </a:r>
          </a:p>
          <a:p>
            <a:pPr lvl="1"/>
            <a:r>
              <a:rPr lang="en-US" sz="1600" dirty="0"/>
              <a:t>Daily Stand-up (15 mins):</a:t>
            </a:r>
          </a:p>
          <a:p>
            <a:pPr lvl="2"/>
            <a:r>
              <a:rPr lang="en-US" sz="1600" dirty="0"/>
              <a:t>What I did yesterday</a:t>
            </a:r>
          </a:p>
          <a:p>
            <a:pPr lvl="2"/>
            <a:r>
              <a:rPr lang="en-US" sz="1600" dirty="0"/>
              <a:t>What I’ll do today</a:t>
            </a:r>
          </a:p>
          <a:p>
            <a:pPr lvl="2"/>
            <a:r>
              <a:rPr lang="en-US" sz="1600" dirty="0"/>
              <a:t>Any blockers?</a:t>
            </a:r>
          </a:p>
          <a:p>
            <a:pPr marL="0" indent="0">
              <a:buNone/>
            </a:pPr>
            <a:r>
              <a:rPr lang="en-US" sz="1600" b="1" dirty="0"/>
              <a:t>4. Sprint Review</a:t>
            </a:r>
          </a:p>
          <a:p>
            <a:pPr lvl="1"/>
            <a:r>
              <a:rPr lang="en-US" sz="1600" dirty="0"/>
              <a:t>Demo working features to stakeholders:</a:t>
            </a:r>
          </a:p>
          <a:p>
            <a:pPr lvl="2"/>
            <a:r>
              <a:rPr lang="en-US" sz="1600" dirty="0"/>
              <a:t>Search</a:t>
            </a:r>
          </a:p>
          <a:p>
            <a:pPr lvl="2"/>
            <a:r>
              <a:rPr lang="en-US" sz="1600" dirty="0"/>
              <a:t>Product listing</a:t>
            </a:r>
          </a:p>
          <a:p>
            <a:pPr lvl="1"/>
            <a:r>
              <a:rPr lang="en-US" sz="1600" dirty="0"/>
              <a:t>Feedback collected (e.g., “Add price filter”)</a:t>
            </a:r>
          </a:p>
          <a:p>
            <a:pPr marL="0" indent="0">
              <a:buNone/>
            </a:pPr>
            <a:r>
              <a:rPr lang="en-US" sz="1600" b="1" dirty="0"/>
              <a:t>5. Sprint Retrospective</a:t>
            </a:r>
          </a:p>
          <a:p>
            <a:pPr lvl="1"/>
            <a:r>
              <a:rPr lang="en-US" sz="1600" dirty="0"/>
              <a:t>What went well?</a:t>
            </a:r>
          </a:p>
          <a:p>
            <a:pPr lvl="1"/>
            <a:r>
              <a:rPr lang="en-US" sz="1600" dirty="0"/>
              <a:t>What didn’t?</a:t>
            </a:r>
          </a:p>
          <a:p>
            <a:pPr lvl="1"/>
            <a:r>
              <a:rPr lang="en-US" sz="1600" dirty="0"/>
              <a:t>Improvements for next sprint?</a:t>
            </a:r>
          </a:p>
          <a:p>
            <a:pPr marL="0" indent="0">
              <a:buNone/>
            </a:pPr>
            <a:r>
              <a:rPr lang="en-US" sz="1600" b="1" dirty="0"/>
              <a:t>6.</a:t>
            </a:r>
            <a:r>
              <a:rPr lang="en-US" sz="1600" dirty="0"/>
              <a:t> </a:t>
            </a:r>
            <a:r>
              <a:rPr lang="en-US" sz="1600" b="1" dirty="0"/>
              <a:t>Increment Delivery</a:t>
            </a:r>
          </a:p>
          <a:p>
            <a:pPr lvl="1"/>
            <a:r>
              <a:rPr lang="en-US" sz="1600" dirty="0"/>
              <a:t>Deploy to staging or production</a:t>
            </a:r>
          </a:p>
          <a:p>
            <a:pPr lvl="1"/>
            <a:endParaRPr lang="en-US" sz="1600" dirty="0"/>
          </a:p>
          <a:p>
            <a:pPr marL="0" indent="0">
              <a:buNone/>
            </a:pPr>
            <a:r>
              <a:rPr lang="en-US" sz="1600" dirty="0"/>
              <a:t>📌 </a:t>
            </a:r>
            <a:r>
              <a:rPr lang="en-US" sz="1600" b="1" dirty="0"/>
              <a:t>Outcome</a:t>
            </a:r>
            <a:r>
              <a:rPr lang="en-US" sz="1600" dirty="0"/>
              <a:t>: Working product every sprint</a:t>
            </a:r>
          </a:p>
        </p:txBody>
      </p:sp>
    </p:spTree>
    <p:extLst>
      <p:ext uri="{BB962C8B-B14F-4D97-AF65-F5344CB8AC3E}">
        <p14:creationId xmlns:p14="http://schemas.microsoft.com/office/powerpoint/2010/main" val="2239976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2BF10-8906-4133-AD9A-C44416683DBD}"/>
              </a:ext>
            </a:extLst>
          </p:cNvPr>
          <p:cNvSpPr>
            <a:spLocks noGrp="1"/>
          </p:cNvSpPr>
          <p:nvPr>
            <p:ph type="title"/>
          </p:nvPr>
        </p:nvSpPr>
        <p:spPr>
          <a:xfrm>
            <a:off x="279400" y="327359"/>
            <a:ext cx="10515600" cy="315912"/>
          </a:xfrm>
        </p:spPr>
        <p:txBody>
          <a:bodyPr>
            <a:normAutofit fontScale="90000"/>
          </a:bodyPr>
          <a:lstStyle/>
          <a:p>
            <a:r>
              <a:rPr lang="en-US" sz="2500" b="1" dirty="0"/>
              <a:t>Agile process models in Software Engineering – </a:t>
            </a:r>
            <a:r>
              <a:rPr lang="en-US" sz="2500" b="1" dirty="0">
                <a:solidFill>
                  <a:schemeClr val="accent6">
                    <a:lumMod val="75000"/>
                  </a:schemeClr>
                </a:solidFill>
              </a:rPr>
              <a:t>QA Workflow</a:t>
            </a:r>
          </a:p>
        </p:txBody>
      </p:sp>
      <p:grpSp>
        <p:nvGrpSpPr>
          <p:cNvPr id="16" name="Group 15">
            <a:extLst>
              <a:ext uri="{FF2B5EF4-FFF2-40B4-BE49-F238E27FC236}">
                <a16:creationId xmlns:a16="http://schemas.microsoft.com/office/drawing/2014/main" id="{6D8D6D70-0A1D-4FB7-8A98-25812B46720E}"/>
              </a:ext>
            </a:extLst>
          </p:cNvPr>
          <p:cNvGrpSpPr/>
          <p:nvPr/>
        </p:nvGrpSpPr>
        <p:grpSpPr>
          <a:xfrm>
            <a:off x="279400" y="956733"/>
            <a:ext cx="11562953" cy="5469467"/>
            <a:chOff x="754398" y="731227"/>
            <a:chExt cx="10935553" cy="4899105"/>
          </a:xfrm>
        </p:grpSpPr>
        <p:pic>
          <p:nvPicPr>
            <p:cNvPr id="8" name="Picture 7">
              <a:extLst>
                <a:ext uri="{FF2B5EF4-FFF2-40B4-BE49-F238E27FC236}">
                  <a16:creationId xmlns:a16="http://schemas.microsoft.com/office/drawing/2014/main" id="{8F1B02C4-C39D-48B3-836E-7B91E1F66F6F}"/>
                </a:ext>
              </a:extLst>
            </p:cNvPr>
            <p:cNvPicPr>
              <a:picLocks noChangeAspect="1"/>
            </p:cNvPicPr>
            <p:nvPr/>
          </p:nvPicPr>
          <p:blipFill>
            <a:blip r:embed="rId2"/>
            <a:stretch>
              <a:fillRect/>
            </a:stretch>
          </p:blipFill>
          <p:spPr>
            <a:xfrm>
              <a:off x="4197626" y="731229"/>
              <a:ext cx="3913937" cy="4729771"/>
            </a:xfrm>
            <a:prstGeom prst="rect">
              <a:avLst/>
            </a:prstGeom>
          </p:spPr>
        </p:pic>
        <p:pic>
          <p:nvPicPr>
            <p:cNvPr id="12" name="Picture 11">
              <a:extLst>
                <a:ext uri="{FF2B5EF4-FFF2-40B4-BE49-F238E27FC236}">
                  <a16:creationId xmlns:a16="http://schemas.microsoft.com/office/drawing/2014/main" id="{BC3C86BC-047F-4648-8D62-71E36C45EB5D}"/>
                </a:ext>
              </a:extLst>
            </p:cNvPr>
            <p:cNvPicPr>
              <a:picLocks noChangeAspect="1"/>
            </p:cNvPicPr>
            <p:nvPr/>
          </p:nvPicPr>
          <p:blipFill>
            <a:blip r:embed="rId3"/>
            <a:stretch>
              <a:fillRect/>
            </a:stretch>
          </p:blipFill>
          <p:spPr>
            <a:xfrm>
              <a:off x="8066957" y="731228"/>
              <a:ext cx="3622994" cy="2265971"/>
            </a:xfrm>
            <a:prstGeom prst="rect">
              <a:avLst/>
            </a:prstGeom>
          </p:spPr>
        </p:pic>
        <p:grpSp>
          <p:nvGrpSpPr>
            <p:cNvPr id="15" name="Group 14">
              <a:extLst>
                <a:ext uri="{FF2B5EF4-FFF2-40B4-BE49-F238E27FC236}">
                  <a16:creationId xmlns:a16="http://schemas.microsoft.com/office/drawing/2014/main" id="{1CB6ECDB-7C7D-4AC2-80C6-8072652A7D5E}"/>
                </a:ext>
              </a:extLst>
            </p:cNvPr>
            <p:cNvGrpSpPr/>
            <p:nvPr/>
          </p:nvGrpSpPr>
          <p:grpSpPr>
            <a:xfrm>
              <a:off x="754398" y="731227"/>
              <a:ext cx="3123335" cy="4899105"/>
              <a:chOff x="754398" y="731228"/>
              <a:chExt cx="2949909" cy="4464660"/>
            </a:xfrm>
          </p:grpSpPr>
          <p:pic>
            <p:nvPicPr>
              <p:cNvPr id="5" name="Picture 4">
                <a:extLst>
                  <a:ext uri="{FF2B5EF4-FFF2-40B4-BE49-F238E27FC236}">
                    <a16:creationId xmlns:a16="http://schemas.microsoft.com/office/drawing/2014/main" id="{4599530C-FDCF-4BD3-B968-AB21A5161805}"/>
                  </a:ext>
                </a:extLst>
              </p:cNvPr>
              <p:cNvPicPr>
                <a:picLocks noChangeAspect="1"/>
              </p:cNvPicPr>
              <p:nvPr/>
            </p:nvPicPr>
            <p:blipFill>
              <a:blip r:embed="rId4"/>
              <a:stretch>
                <a:fillRect/>
              </a:stretch>
            </p:blipFill>
            <p:spPr>
              <a:xfrm>
                <a:off x="754398" y="1007533"/>
                <a:ext cx="2949909" cy="4188355"/>
              </a:xfrm>
              <a:prstGeom prst="rect">
                <a:avLst/>
              </a:prstGeom>
            </p:spPr>
          </p:pic>
          <p:pic>
            <p:nvPicPr>
              <p:cNvPr id="14" name="Picture 13">
                <a:extLst>
                  <a:ext uri="{FF2B5EF4-FFF2-40B4-BE49-F238E27FC236}">
                    <a16:creationId xmlns:a16="http://schemas.microsoft.com/office/drawing/2014/main" id="{8647861A-FF6F-4292-8C05-8CD4D4033C30}"/>
                  </a:ext>
                </a:extLst>
              </p:cNvPr>
              <p:cNvPicPr>
                <a:picLocks noChangeAspect="1"/>
              </p:cNvPicPr>
              <p:nvPr/>
            </p:nvPicPr>
            <p:blipFill>
              <a:blip r:embed="rId5"/>
              <a:stretch>
                <a:fillRect/>
              </a:stretch>
            </p:blipFill>
            <p:spPr>
              <a:xfrm>
                <a:off x="754398" y="731228"/>
                <a:ext cx="2894378" cy="200105"/>
              </a:xfrm>
              <a:prstGeom prst="rect">
                <a:avLst/>
              </a:prstGeom>
            </p:spPr>
          </p:pic>
        </p:grpSp>
      </p:grpSp>
    </p:spTree>
    <p:extLst>
      <p:ext uri="{BB962C8B-B14F-4D97-AF65-F5344CB8AC3E}">
        <p14:creationId xmlns:p14="http://schemas.microsoft.com/office/powerpoint/2010/main" val="4066296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F78E-A24A-42A4-AB41-1F2235263350}"/>
              </a:ext>
            </a:extLst>
          </p:cNvPr>
          <p:cNvSpPr>
            <a:spLocks noGrp="1"/>
          </p:cNvSpPr>
          <p:nvPr>
            <p:ph type="title"/>
          </p:nvPr>
        </p:nvSpPr>
        <p:spPr>
          <a:xfrm>
            <a:off x="541867" y="94490"/>
            <a:ext cx="10515600" cy="422275"/>
          </a:xfrm>
        </p:spPr>
        <p:txBody>
          <a:bodyPr>
            <a:normAutofit fontScale="90000"/>
          </a:bodyPr>
          <a:lstStyle/>
          <a:p>
            <a:r>
              <a:rPr lang="en-US" sz="2800" b="1" dirty="0"/>
              <a:t>Agile process models in Software Engineering – Planning Board</a:t>
            </a:r>
          </a:p>
        </p:txBody>
      </p:sp>
      <p:pic>
        <p:nvPicPr>
          <p:cNvPr id="9" name="Picture 8">
            <a:extLst>
              <a:ext uri="{FF2B5EF4-FFF2-40B4-BE49-F238E27FC236}">
                <a16:creationId xmlns:a16="http://schemas.microsoft.com/office/drawing/2014/main" id="{6ED2E7F3-A1FF-46D9-9ED0-791946B830C4}"/>
              </a:ext>
            </a:extLst>
          </p:cNvPr>
          <p:cNvPicPr>
            <a:picLocks noChangeAspect="1"/>
          </p:cNvPicPr>
          <p:nvPr/>
        </p:nvPicPr>
        <p:blipFill>
          <a:blip r:embed="rId2"/>
          <a:stretch>
            <a:fillRect/>
          </a:stretch>
        </p:blipFill>
        <p:spPr>
          <a:xfrm>
            <a:off x="481653" y="684515"/>
            <a:ext cx="5682080" cy="2907368"/>
          </a:xfrm>
          <a:prstGeom prst="rect">
            <a:avLst/>
          </a:prstGeom>
        </p:spPr>
      </p:pic>
      <p:pic>
        <p:nvPicPr>
          <p:cNvPr id="10" name="Picture 9">
            <a:extLst>
              <a:ext uri="{FF2B5EF4-FFF2-40B4-BE49-F238E27FC236}">
                <a16:creationId xmlns:a16="http://schemas.microsoft.com/office/drawing/2014/main" id="{52190947-67B8-4E47-B27D-18B63D82A89A}"/>
              </a:ext>
            </a:extLst>
          </p:cNvPr>
          <p:cNvPicPr>
            <a:picLocks noChangeAspect="1"/>
          </p:cNvPicPr>
          <p:nvPr/>
        </p:nvPicPr>
        <p:blipFill>
          <a:blip r:embed="rId3"/>
          <a:stretch>
            <a:fillRect/>
          </a:stretch>
        </p:blipFill>
        <p:spPr>
          <a:xfrm>
            <a:off x="6536909" y="648899"/>
            <a:ext cx="5257075" cy="2780101"/>
          </a:xfrm>
          <a:prstGeom prst="rect">
            <a:avLst/>
          </a:prstGeom>
        </p:spPr>
      </p:pic>
      <p:pic>
        <p:nvPicPr>
          <p:cNvPr id="12" name="Picture 11">
            <a:extLst>
              <a:ext uri="{FF2B5EF4-FFF2-40B4-BE49-F238E27FC236}">
                <a16:creationId xmlns:a16="http://schemas.microsoft.com/office/drawing/2014/main" id="{4418C494-45F6-4BFE-B553-4230EC485B79}"/>
              </a:ext>
            </a:extLst>
          </p:cNvPr>
          <p:cNvPicPr>
            <a:picLocks noChangeAspect="1"/>
          </p:cNvPicPr>
          <p:nvPr/>
        </p:nvPicPr>
        <p:blipFill>
          <a:blip r:embed="rId4"/>
          <a:stretch>
            <a:fillRect/>
          </a:stretch>
        </p:blipFill>
        <p:spPr>
          <a:xfrm>
            <a:off x="481653" y="3647596"/>
            <a:ext cx="6020080" cy="2634671"/>
          </a:xfrm>
          <a:prstGeom prst="rect">
            <a:avLst/>
          </a:prstGeom>
        </p:spPr>
      </p:pic>
      <p:sp>
        <p:nvSpPr>
          <p:cNvPr id="14" name="TextBox 13">
            <a:extLst>
              <a:ext uri="{FF2B5EF4-FFF2-40B4-BE49-F238E27FC236}">
                <a16:creationId xmlns:a16="http://schemas.microsoft.com/office/drawing/2014/main" id="{54A67C7A-7D31-49A2-AC91-E00BB7F58103}"/>
              </a:ext>
            </a:extLst>
          </p:cNvPr>
          <p:cNvSpPr txBox="1"/>
          <p:nvPr/>
        </p:nvSpPr>
        <p:spPr>
          <a:xfrm>
            <a:off x="6603999" y="3647595"/>
            <a:ext cx="5106347" cy="2308324"/>
          </a:xfrm>
          <a:prstGeom prst="rect">
            <a:avLst/>
          </a:prstGeom>
          <a:noFill/>
        </p:spPr>
        <p:txBody>
          <a:bodyPr wrap="square" rtlCol="0">
            <a:spAutoFit/>
          </a:bodyPr>
          <a:lstStyle/>
          <a:p>
            <a:pPr marL="285750" indent="-285750">
              <a:buFont typeface="Arial" panose="020B0604020202020204" pitchFamily="34" charset="0"/>
              <a:buChar char="•"/>
            </a:pPr>
            <a:r>
              <a:rPr lang="en-US" b="1" dirty="0"/>
              <a:t>GDE</a:t>
            </a:r>
            <a:r>
              <a:rPr lang="en-US" dirty="0"/>
              <a:t>: Go Define Enterprise</a:t>
            </a:r>
          </a:p>
          <a:p>
            <a:pPr marL="285750" indent="-285750">
              <a:buFont typeface="Arial" panose="020B0604020202020204" pitchFamily="34" charset="0"/>
              <a:buChar char="•"/>
            </a:pPr>
            <a:r>
              <a:rPr lang="en-US" b="1" dirty="0"/>
              <a:t>GD</a:t>
            </a:r>
            <a:r>
              <a:rPr lang="en-US" dirty="0"/>
              <a:t>: Go Define</a:t>
            </a:r>
          </a:p>
          <a:p>
            <a:pPr marL="285750" indent="-285750">
              <a:buFont typeface="Arial" panose="020B0604020202020204" pitchFamily="34" charset="0"/>
              <a:buChar char="•"/>
            </a:pPr>
            <a:r>
              <a:rPr lang="en-US" b="1" dirty="0"/>
              <a:t>LGOI</a:t>
            </a:r>
            <a:r>
              <a:rPr lang="en-US" dirty="0"/>
              <a:t>: Last GO Implement</a:t>
            </a:r>
          </a:p>
          <a:p>
            <a:pPr marL="285750" indent="-285750">
              <a:buFont typeface="Arial" panose="020B0604020202020204" pitchFamily="34" charset="0"/>
              <a:buChar char="•"/>
            </a:pPr>
            <a:r>
              <a:rPr lang="en-US" b="1" dirty="0"/>
              <a:t>ARC</a:t>
            </a:r>
            <a:r>
              <a:rPr lang="en-US" dirty="0"/>
              <a:t>: Affordability Resolution Cutoff</a:t>
            </a:r>
          </a:p>
          <a:p>
            <a:pPr marL="285750" indent="-285750">
              <a:buFont typeface="Arial" panose="020B0604020202020204" pitchFamily="34" charset="0"/>
              <a:buChar char="•"/>
            </a:pPr>
            <a:r>
              <a:rPr lang="en-US" b="1" dirty="0"/>
              <a:t>FCF</a:t>
            </a:r>
            <a:r>
              <a:rPr lang="en-US" dirty="0"/>
              <a:t>: Function Content Frozen(code delivered)</a:t>
            </a:r>
          </a:p>
          <a:p>
            <a:pPr marL="285750" indent="-285750">
              <a:buFont typeface="Arial" panose="020B0604020202020204" pitchFamily="34" charset="0"/>
              <a:buChar char="•"/>
            </a:pPr>
            <a:r>
              <a:rPr lang="en-US" b="1" dirty="0"/>
              <a:t>FQA</a:t>
            </a:r>
            <a:r>
              <a:rPr lang="en-US" dirty="0"/>
              <a:t>: First Quality Assessment</a:t>
            </a:r>
          </a:p>
          <a:p>
            <a:pPr marL="285750" indent="-285750">
              <a:buFont typeface="Arial" panose="020B0604020202020204" pitchFamily="34" charset="0"/>
              <a:buChar char="•"/>
            </a:pPr>
            <a:r>
              <a:rPr lang="en-US" b="1" dirty="0"/>
              <a:t>FIR</a:t>
            </a:r>
            <a:r>
              <a:rPr lang="en-US" dirty="0"/>
              <a:t>: Full Industrialization Replay</a:t>
            </a:r>
          </a:p>
          <a:p>
            <a:pPr marL="285750" indent="-285750">
              <a:buFont typeface="Arial" panose="020B0604020202020204" pitchFamily="34" charset="0"/>
              <a:buChar char="•"/>
            </a:pPr>
            <a:r>
              <a:rPr lang="en-US" b="1" dirty="0"/>
              <a:t>LB</a:t>
            </a:r>
            <a:r>
              <a:rPr lang="en-US" dirty="0"/>
              <a:t>: Last Build</a:t>
            </a:r>
          </a:p>
        </p:txBody>
      </p:sp>
    </p:spTree>
    <p:extLst>
      <p:ext uri="{BB962C8B-B14F-4D97-AF65-F5344CB8AC3E}">
        <p14:creationId xmlns:p14="http://schemas.microsoft.com/office/powerpoint/2010/main" val="1551076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F78E-A24A-42A4-AB41-1F2235263350}"/>
              </a:ext>
            </a:extLst>
          </p:cNvPr>
          <p:cNvSpPr>
            <a:spLocks noGrp="1"/>
          </p:cNvSpPr>
          <p:nvPr>
            <p:ph type="title"/>
          </p:nvPr>
        </p:nvSpPr>
        <p:spPr>
          <a:xfrm>
            <a:off x="516467" y="161925"/>
            <a:ext cx="10515600" cy="422275"/>
          </a:xfrm>
        </p:spPr>
        <p:txBody>
          <a:bodyPr>
            <a:normAutofit fontScale="90000"/>
          </a:bodyPr>
          <a:lstStyle/>
          <a:p>
            <a:r>
              <a:rPr lang="en-US" sz="2800" b="1" dirty="0"/>
              <a:t>Agile process models in Software Engineering</a:t>
            </a:r>
          </a:p>
        </p:txBody>
      </p:sp>
      <p:sp>
        <p:nvSpPr>
          <p:cNvPr id="3" name="Content Placeholder 2">
            <a:extLst>
              <a:ext uri="{FF2B5EF4-FFF2-40B4-BE49-F238E27FC236}">
                <a16:creationId xmlns:a16="http://schemas.microsoft.com/office/drawing/2014/main" id="{07C772C4-2796-4970-B3E5-270D66D4B514}"/>
              </a:ext>
            </a:extLst>
          </p:cNvPr>
          <p:cNvSpPr>
            <a:spLocks noGrp="1"/>
          </p:cNvSpPr>
          <p:nvPr>
            <p:ph sz="half" idx="1"/>
          </p:nvPr>
        </p:nvSpPr>
        <p:spPr>
          <a:xfrm>
            <a:off x="347134" y="719666"/>
            <a:ext cx="5596468" cy="5873639"/>
          </a:xfrm>
        </p:spPr>
        <p:txBody>
          <a:bodyPr>
            <a:normAutofit fontScale="47500" lnSpcReduction="20000"/>
          </a:bodyPr>
          <a:lstStyle/>
          <a:p>
            <a:pPr marL="0" indent="0">
              <a:buNone/>
            </a:pPr>
            <a:r>
              <a:rPr lang="en-US" sz="2900" b="1" dirty="0"/>
              <a:t>2️⃣ </a:t>
            </a:r>
            <a:r>
              <a:rPr lang="en-US" sz="3400" b="1" dirty="0" err="1"/>
              <a:t>SAFe</a:t>
            </a:r>
            <a:r>
              <a:rPr lang="en-US" sz="3400" b="1" dirty="0"/>
              <a:t> (Scaled Agile) – Large Enterprise Projects</a:t>
            </a:r>
          </a:p>
          <a:p>
            <a:pPr lvl="1"/>
            <a:r>
              <a:rPr lang="en-US" sz="3400" dirty="0"/>
              <a:t>Scenario: Developing a telecom billing platform with 100+ developers</a:t>
            </a:r>
          </a:p>
          <a:p>
            <a:pPr lvl="1"/>
            <a:r>
              <a:rPr lang="en-US" sz="3400" dirty="0"/>
              <a:t>Workflow</a:t>
            </a:r>
          </a:p>
          <a:p>
            <a:pPr marL="914400" lvl="2" indent="0">
              <a:buNone/>
            </a:pPr>
            <a:r>
              <a:rPr lang="en-US" sz="2900" dirty="0"/>
              <a:t>1. Program Increment (PI) Planning</a:t>
            </a:r>
          </a:p>
          <a:p>
            <a:pPr lvl="3"/>
            <a:r>
              <a:rPr lang="en-US" sz="2300" dirty="0"/>
              <a:t>8–12 weeks</a:t>
            </a:r>
          </a:p>
          <a:p>
            <a:pPr lvl="3"/>
            <a:r>
              <a:rPr lang="en-US" sz="2300" dirty="0"/>
              <a:t>Multiple teams align on objectives</a:t>
            </a:r>
          </a:p>
          <a:p>
            <a:pPr marL="914400" lvl="2" indent="0">
              <a:buNone/>
            </a:pPr>
            <a:r>
              <a:rPr lang="en-US" sz="2900" dirty="0"/>
              <a:t>2. Team-Level Scrum</a:t>
            </a:r>
          </a:p>
          <a:p>
            <a:pPr lvl="3"/>
            <a:r>
              <a:rPr lang="en-US" sz="2300" dirty="0"/>
              <a:t>Each team runs its own sprints</a:t>
            </a:r>
          </a:p>
          <a:p>
            <a:pPr marL="914400" lvl="2" indent="0">
              <a:buNone/>
            </a:pPr>
            <a:r>
              <a:rPr lang="en-US" sz="2900" dirty="0"/>
              <a:t>3. System Demos</a:t>
            </a:r>
          </a:p>
          <a:p>
            <a:pPr lvl="3"/>
            <a:r>
              <a:rPr lang="en-US" sz="2300" dirty="0"/>
              <a:t>Integrated solution demoed regularly</a:t>
            </a:r>
          </a:p>
          <a:p>
            <a:pPr marL="914400" lvl="2" indent="0">
              <a:buNone/>
            </a:pPr>
            <a:r>
              <a:rPr lang="en-US" sz="2900" dirty="0"/>
              <a:t>4. Inspect &amp; Adapt</a:t>
            </a:r>
          </a:p>
          <a:p>
            <a:pPr lvl="3"/>
            <a:r>
              <a:rPr lang="en-US" sz="2300" dirty="0"/>
              <a:t>Large-scale retrospective</a:t>
            </a:r>
          </a:p>
          <a:p>
            <a:pPr marL="0" indent="0">
              <a:buNone/>
            </a:pPr>
            <a:r>
              <a:rPr lang="en-US" sz="3400" dirty="0"/>
              <a:t>📌 Outcome: Coordination across many teams</a:t>
            </a:r>
          </a:p>
          <a:p>
            <a:pPr marL="0" indent="0">
              <a:buNone/>
            </a:pPr>
            <a:endParaRPr lang="en-US" sz="2900" dirty="0"/>
          </a:p>
          <a:p>
            <a:pPr marL="0" indent="0">
              <a:buNone/>
            </a:pPr>
            <a:r>
              <a:rPr lang="en-US" sz="2900" b="1" dirty="0"/>
              <a:t>3️⃣ </a:t>
            </a:r>
            <a:r>
              <a:rPr lang="en-US" sz="3400" b="1" dirty="0"/>
              <a:t>Agile + DevOps Workflow (Modern Setup)</a:t>
            </a:r>
          </a:p>
          <a:p>
            <a:pPr lvl="1"/>
            <a:r>
              <a:rPr lang="en-US" sz="2900" dirty="0"/>
              <a:t>Scenario: Cloud-based SaaS product</a:t>
            </a:r>
          </a:p>
          <a:p>
            <a:pPr lvl="1"/>
            <a:r>
              <a:rPr lang="en-US" sz="2900" dirty="0"/>
              <a:t>Workflow</a:t>
            </a:r>
          </a:p>
          <a:p>
            <a:pPr lvl="2"/>
            <a:r>
              <a:rPr lang="en-US" sz="2500" dirty="0"/>
              <a:t>Plan → Code → Build → Test → Deploy → Monitor → Feedback</a:t>
            </a:r>
          </a:p>
          <a:p>
            <a:pPr lvl="1"/>
            <a:r>
              <a:rPr lang="en-US" sz="2900" dirty="0"/>
              <a:t>CI/CD pipelines</a:t>
            </a:r>
          </a:p>
          <a:p>
            <a:pPr lvl="1"/>
            <a:r>
              <a:rPr lang="en-US" sz="2900" dirty="0"/>
              <a:t>Automated testing</a:t>
            </a:r>
          </a:p>
          <a:p>
            <a:pPr lvl="1"/>
            <a:r>
              <a:rPr lang="en-US" sz="2900" dirty="0"/>
              <a:t>Monitoring via logs &amp; alerts</a:t>
            </a:r>
          </a:p>
          <a:p>
            <a:pPr lvl="1"/>
            <a:r>
              <a:rPr lang="en-US" sz="2900" dirty="0"/>
              <a:t>Feedback feeds next sprint</a:t>
            </a:r>
          </a:p>
          <a:p>
            <a:pPr lvl="1"/>
            <a:endParaRPr lang="en-US" sz="2900" dirty="0"/>
          </a:p>
          <a:p>
            <a:pPr marL="0" indent="0">
              <a:buNone/>
            </a:pPr>
            <a:r>
              <a:rPr lang="en-US" sz="3400" dirty="0"/>
              <a:t>📌 </a:t>
            </a:r>
            <a:r>
              <a:rPr lang="en-US" sz="3400" b="1" dirty="0"/>
              <a:t>Outcome</a:t>
            </a:r>
            <a:r>
              <a:rPr lang="en-US" sz="3400" dirty="0"/>
              <a:t>: Faster releases, high reliability</a:t>
            </a:r>
          </a:p>
          <a:p>
            <a:pPr marL="0" indent="0">
              <a:buNone/>
            </a:pPr>
            <a:endParaRPr lang="en-US" dirty="0"/>
          </a:p>
        </p:txBody>
      </p:sp>
      <p:sp>
        <p:nvSpPr>
          <p:cNvPr id="4" name="Content Placeholder 3">
            <a:extLst>
              <a:ext uri="{FF2B5EF4-FFF2-40B4-BE49-F238E27FC236}">
                <a16:creationId xmlns:a16="http://schemas.microsoft.com/office/drawing/2014/main" id="{D90E776D-AB27-45FB-9702-D3C49F2765E3}"/>
              </a:ext>
            </a:extLst>
          </p:cNvPr>
          <p:cNvSpPr>
            <a:spLocks noGrp="1"/>
          </p:cNvSpPr>
          <p:nvPr>
            <p:ph sz="half" idx="2"/>
          </p:nvPr>
        </p:nvSpPr>
        <p:spPr>
          <a:xfrm>
            <a:off x="6248400" y="719666"/>
            <a:ext cx="5596466" cy="5457297"/>
          </a:xfrm>
        </p:spPr>
        <p:txBody>
          <a:bodyPr>
            <a:normAutofit fontScale="47500" lnSpcReduction="20000"/>
          </a:bodyPr>
          <a:lstStyle/>
          <a:p>
            <a:pPr marL="0" indent="0">
              <a:buNone/>
            </a:pPr>
            <a:r>
              <a:rPr lang="en-US" sz="2900" b="1" dirty="0"/>
              <a:t>4️⃣</a:t>
            </a:r>
            <a:r>
              <a:rPr lang="en-US" sz="2000" dirty="0"/>
              <a:t> </a:t>
            </a:r>
            <a:r>
              <a:rPr lang="en-US" sz="3500" b="1" dirty="0"/>
              <a:t>Kanban Workflow – Production Support / Maintenance</a:t>
            </a:r>
          </a:p>
          <a:p>
            <a:pPr lvl="1"/>
            <a:r>
              <a:rPr lang="en-US" sz="4000" dirty="0"/>
              <a:t>Scenario: Handling bug fixes &amp; change requests for a live application</a:t>
            </a:r>
          </a:p>
          <a:p>
            <a:pPr lvl="1"/>
            <a:r>
              <a:rPr lang="en-US" sz="4000" dirty="0"/>
              <a:t>Workflow: Kanban Board Example</a:t>
            </a:r>
          </a:p>
          <a:p>
            <a:pPr lvl="2"/>
            <a:r>
              <a:rPr lang="en-US" sz="3500" dirty="0"/>
              <a:t>Backlog → To Do → In Progress → Testing → Done</a:t>
            </a:r>
          </a:p>
          <a:p>
            <a:pPr lvl="2"/>
            <a:r>
              <a:rPr lang="en-US" sz="3500" dirty="0"/>
              <a:t>1. Ticket Creation</a:t>
            </a:r>
          </a:p>
          <a:p>
            <a:pPr lvl="3"/>
            <a:r>
              <a:rPr lang="en-US" sz="3000" dirty="0"/>
              <a:t>Bugs reported via Jira:</a:t>
            </a:r>
          </a:p>
          <a:p>
            <a:pPr lvl="4"/>
            <a:r>
              <a:rPr lang="en-US" sz="3000" dirty="0"/>
              <a:t>Payment failure</a:t>
            </a:r>
          </a:p>
          <a:p>
            <a:pPr lvl="4"/>
            <a:r>
              <a:rPr lang="en-US" sz="3000" dirty="0"/>
              <a:t>Login timeout</a:t>
            </a:r>
          </a:p>
          <a:p>
            <a:pPr lvl="4"/>
            <a:r>
              <a:rPr lang="en-US" sz="3000" dirty="0"/>
              <a:t>UI alignment issues</a:t>
            </a:r>
          </a:p>
          <a:p>
            <a:pPr lvl="2"/>
            <a:r>
              <a:rPr lang="en-US" sz="3500" dirty="0"/>
              <a:t>2. WIP Limits Applied</a:t>
            </a:r>
          </a:p>
          <a:p>
            <a:pPr lvl="3"/>
            <a:r>
              <a:rPr lang="en-US" sz="3000" dirty="0"/>
              <a:t>Only 3 tasks allowed in “In Progress”</a:t>
            </a:r>
          </a:p>
          <a:p>
            <a:pPr lvl="3"/>
            <a:r>
              <a:rPr lang="en-US" sz="3000" dirty="0"/>
              <a:t>Prevents overload</a:t>
            </a:r>
          </a:p>
          <a:p>
            <a:pPr lvl="2"/>
            <a:r>
              <a:rPr lang="en-US" sz="3500" dirty="0"/>
              <a:t>3. Continuous Flow</a:t>
            </a:r>
          </a:p>
          <a:p>
            <a:pPr lvl="3"/>
            <a:r>
              <a:rPr lang="en-US" sz="3000" dirty="0"/>
              <a:t>Developer picks next highest priority task</a:t>
            </a:r>
          </a:p>
          <a:p>
            <a:pPr lvl="3"/>
            <a:r>
              <a:rPr lang="en-US" sz="3000" dirty="0"/>
              <a:t>No sprints</a:t>
            </a:r>
          </a:p>
          <a:p>
            <a:pPr lvl="3"/>
            <a:r>
              <a:rPr lang="en-US" sz="3000" dirty="0"/>
              <a:t>Task moves across the board</a:t>
            </a:r>
          </a:p>
          <a:p>
            <a:pPr lvl="2"/>
            <a:r>
              <a:rPr lang="en-US" sz="3500" dirty="0"/>
              <a:t>4. Continuous Delivery</a:t>
            </a:r>
          </a:p>
          <a:p>
            <a:pPr lvl="3"/>
            <a:r>
              <a:rPr lang="en-US" sz="3000" dirty="0"/>
              <a:t>Fix deployed immediately after testing</a:t>
            </a:r>
          </a:p>
          <a:p>
            <a:pPr marL="0" indent="0">
              <a:buNone/>
            </a:pPr>
            <a:r>
              <a:rPr lang="en-US" sz="3000" dirty="0"/>
              <a:t>📌 Outcome: Faster response time, better flow</a:t>
            </a:r>
          </a:p>
          <a:p>
            <a:pPr marL="0" indent="0">
              <a:buNone/>
            </a:pPr>
            <a:r>
              <a:rPr lang="en-US" sz="3000" dirty="0"/>
              <a:t>📌 Real-world use: DevOps teams, L2/L3 support</a:t>
            </a:r>
          </a:p>
        </p:txBody>
      </p:sp>
    </p:spTree>
    <p:extLst>
      <p:ext uri="{BB962C8B-B14F-4D97-AF65-F5344CB8AC3E}">
        <p14:creationId xmlns:p14="http://schemas.microsoft.com/office/powerpoint/2010/main" val="410072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F78E-A24A-42A4-AB41-1F2235263350}"/>
              </a:ext>
            </a:extLst>
          </p:cNvPr>
          <p:cNvSpPr>
            <a:spLocks noGrp="1"/>
          </p:cNvSpPr>
          <p:nvPr>
            <p:ph type="title"/>
          </p:nvPr>
        </p:nvSpPr>
        <p:spPr>
          <a:xfrm>
            <a:off x="516467" y="161925"/>
            <a:ext cx="10515600" cy="422275"/>
          </a:xfrm>
        </p:spPr>
        <p:txBody>
          <a:bodyPr>
            <a:normAutofit fontScale="90000"/>
          </a:bodyPr>
          <a:lstStyle/>
          <a:p>
            <a:r>
              <a:rPr lang="en-US" sz="2800" b="1" dirty="0"/>
              <a:t>A Functional Delivery in Agile Software Engineering Process</a:t>
            </a:r>
          </a:p>
        </p:txBody>
      </p:sp>
      <p:sp>
        <p:nvSpPr>
          <p:cNvPr id="3" name="Content Placeholder 2">
            <a:extLst>
              <a:ext uri="{FF2B5EF4-FFF2-40B4-BE49-F238E27FC236}">
                <a16:creationId xmlns:a16="http://schemas.microsoft.com/office/drawing/2014/main" id="{07C772C4-2796-4970-B3E5-270D66D4B514}"/>
              </a:ext>
            </a:extLst>
          </p:cNvPr>
          <p:cNvSpPr>
            <a:spLocks noGrp="1"/>
          </p:cNvSpPr>
          <p:nvPr>
            <p:ph sz="half" idx="1"/>
          </p:nvPr>
        </p:nvSpPr>
        <p:spPr>
          <a:xfrm>
            <a:off x="516467" y="643467"/>
            <a:ext cx="10447865" cy="5825065"/>
          </a:xfrm>
        </p:spPr>
        <p:txBody>
          <a:bodyPr>
            <a:normAutofit/>
          </a:bodyPr>
          <a:lstStyle/>
          <a:p>
            <a:pPr>
              <a:lnSpc>
                <a:spcPct val="107000"/>
              </a:lnSpc>
              <a:spcBef>
                <a:spcPts val="0"/>
              </a:spcBef>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Planning, Defining : </a:t>
            </a:r>
            <a:r>
              <a:rPr lang="en-US" sz="1100" u="sng" dirty="0">
                <a:solidFill>
                  <a:srgbClr val="0563C1"/>
                </a:solidFill>
                <a:effectLst/>
                <a:latin typeface="Calibri" panose="020F0502020204030204" pitchFamily="34" charset="0"/>
                <a:ea typeface="Calibri" panose="020F0502020204030204" pitchFamily="34" charset="0"/>
                <a:cs typeface="Mangal" panose="02040503050203030202" pitchFamily="18" charset="0"/>
                <a:hlinkClick r:id="rId2"/>
              </a:rPr>
              <a:t>https://bio-rdjira.dsone.3ds.com/browse/XINV-1619</a:t>
            </a:r>
            <a:endParaRPr lang="en-US" sz="1100" u="sng" dirty="0">
              <a:solidFill>
                <a:srgbClr val="0563C1"/>
              </a:solidFill>
              <a:effectLst/>
              <a:latin typeface="Calibri" panose="020F0502020204030204" pitchFamily="34" charset="0"/>
              <a:ea typeface="Calibri" panose="020F0502020204030204" pitchFamily="34" charset="0"/>
              <a:cs typeface="Mangal" panose="02040503050203030202" pitchFamily="18" charset="0"/>
            </a:endParaRPr>
          </a:p>
          <a:p>
            <a:pPr lvl="1">
              <a:lnSpc>
                <a:spcPct val="107000"/>
              </a:lnSpc>
              <a:spcBef>
                <a:spcPts val="0"/>
              </a:spcBef>
              <a:buFont typeface="+mj-lt"/>
              <a:buAutoNum type="alphaLcPeriod"/>
            </a:pPr>
            <a:r>
              <a:rPr lang="en-US" sz="700" dirty="0">
                <a:effectLst/>
                <a:latin typeface="Calibri" panose="020F0502020204030204" pitchFamily="34" charset="0"/>
                <a:ea typeface="Calibri" panose="020F0502020204030204" pitchFamily="34" charset="0"/>
                <a:cs typeface="Mangal" panose="02040503050203030202" pitchFamily="18" charset="0"/>
                <a:hlinkClick r:id="rId3"/>
              </a:rPr>
              <a:t>https://bio-rdjira.dsone.3ds.com/browse/XINV-635</a:t>
            </a:r>
            <a:endParaRPr lang="en-US" sz="700" u="sng" dirty="0">
              <a:solidFill>
                <a:srgbClr val="0563C1"/>
              </a:solidFill>
              <a:latin typeface="Calibri" panose="020F0502020204030204" pitchFamily="34" charset="0"/>
              <a:ea typeface="Calibri" panose="020F0502020204030204" pitchFamily="34" charset="0"/>
              <a:cs typeface="Mangal" panose="02040503050203030202" pitchFamily="18" charset="0"/>
            </a:endParaRPr>
          </a:p>
          <a:p>
            <a:pPr lvl="1">
              <a:lnSpc>
                <a:spcPct val="107000"/>
              </a:lnSpc>
              <a:spcBef>
                <a:spcPts val="0"/>
              </a:spcBef>
              <a:buFont typeface="+mj-lt"/>
              <a:buAutoNum type="alphaLcPeriod"/>
            </a:pPr>
            <a:endParaRPr lang="en-US" sz="7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Bef>
                <a:spcPts val="0"/>
              </a:spcBef>
              <a:spcAft>
                <a:spcPts val="0"/>
              </a:spcAft>
              <a:buFont typeface="+mj-lt"/>
              <a:buAutoNum type="alphaLcPeriod"/>
            </a:pPr>
            <a:r>
              <a:rPr lang="en-US" sz="1100" dirty="0">
                <a:effectLst/>
                <a:latin typeface="Calibri" panose="020F0502020204030204" pitchFamily="34" charset="0"/>
                <a:ea typeface="Calibri" panose="020F0502020204030204" pitchFamily="34" charset="0"/>
                <a:cs typeface="Mangal" panose="02040503050203030202" pitchFamily="18" charset="0"/>
              </a:rPr>
              <a:t>Function: Defined in </a:t>
            </a:r>
            <a:r>
              <a:rPr lang="en-US" sz="1100" dirty="0" err="1">
                <a:effectLst/>
                <a:latin typeface="Calibri" panose="020F0502020204030204" pitchFamily="34" charset="0"/>
                <a:ea typeface="Calibri" panose="020F0502020204030204" pitchFamily="34" charset="0"/>
                <a:cs typeface="Mangal" panose="02040503050203030202" pitchFamily="18" charset="0"/>
              </a:rPr>
              <a:t>dsxRD</a:t>
            </a:r>
            <a:r>
              <a:rPr lang="en-US" sz="1100" dirty="0">
                <a:effectLst/>
                <a:latin typeface="Calibri" panose="020F0502020204030204" pitchFamily="34" charset="0"/>
                <a:ea typeface="Calibri" panose="020F0502020204030204" pitchFamily="34" charset="0"/>
                <a:cs typeface="Mangal" panose="02040503050203030202" pitchFamily="18" charset="0"/>
              </a:rPr>
              <a:t> tool </a:t>
            </a:r>
            <a:r>
              <a:rPr lang="en-US" sz="1100" dirty="0">
                <a:effectLst/>
                <a:latin typeface="Calibri" panose="020F0502020204030204" pitchFamily="34" charset="0"/>
                <a:ea typeface="Calibri" panose="020F0502020204030204" pitchFamily="34" charset="0"/>
                <a:cs typeface="Mangal" panose="02040503050203030202" pitchFamily="18" charset="0"/>
                <a:sym typeface="Wingdings" panose="05000000000000000000" pitchFamily="2" charset="2"/>
              </a:rPr>
              <a:t></a:t>
            </a:r>
            <a:r>
              <a:rPr lang="en-US" sz="1100" dirty="0">
                <a:effectLst/>
                <a:latin typeface="Calibri" panose="020F0502020204030204" pitchFamily="34" charset="0"/>
                <a:ea typeface="Calibri" panose="020F0502020204030204" pitchFamily="34" charset="0"/>
                <a:cs typeface="Mangal" panose="02040503050203030202" pitchFamily="18" charset="0"/>
              </a:rPr>
              <a:t> equivalent EPIC in Jira </a:t>
            </a:r>
            <a:r>
              <a:rPr lang="en-US" sz="1100" dirty="0">
                <a:effectLst/>
                <a:latin typeface="Calibri" panose="020F0502020204030204" pitchFamily="34" charset="0"/>
                <a:ea typeface="Calibri" panose="020F0502020204030204" pitchFamily="34" charset="0"/>
                <a:cs typeface="Mangal" panose="02040503050203030202" pitchFamily="18" charset="0"/>
                <a:sym typeface="Wingdings" panose="05000000000000000000" pitchFamily="2" charset="2"/>
              </a:rPr>
              <a:t></a:t>
            </a:r>
            <a:r>
              <a:rPr lang="en-US" sz="1100" dirty="0">
                <a:effectLst/>
                <a:latin typeface="Calibri" panose="020F0502020204030204" pitchFamily="34" charset="0"/>
                <a:ea typeface="Calibri" panose="020F0502020204030204" pitchFamily="34" charset="0"/>
                <a:cs typeface="Mangal" panose="02040503050203030202" pitchFamily="18" charset="0"/>
              </a:rPr>
              <a:t> User Stories (1,2,3…)</a:t>
            </a:r>
          </a:p>
          <a:p>
            <a:pPr marL="342900" marR="0" lvl="0" indent="-342900">
              <a:lnSpc>
                <a:spcPct val="107000"/>
              </a:lnSpc>
              <a:spcBef>
                <a:spcPts val="0"/>
              </a:spcBef>
              <a:spcAft>
                <a:spcPts val="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Designing</a:t>
            </a:r>
          </a:p>
          <a:p>
            <a:pPr marL="742950" marR="0" lvl="1" indent="-285750">
              <a:lnSpc>
                <a:spcPct val="107000"/>
              </a:lnSpc>
              <a:spcBef>
                <a:spcPts val="0"/>
              </a:spcBef>
              <a:spcAft>
                <a:spcPts val="0"/>
              </a:spcAft>
              <a:buFont typeface="+mj-lt"/>
              <a:buAutoNum type="alphaLcPeriod"/>
            </a:pPr>
            <a:r>
              <a:rPr lang="en-US" sz="1100" dirty="0">
                <a:effectLst/>
                <a:latin typeface="Calibri" panose="020F0502020204030204" pitchFamily="34" charset="0"/>
                <a:ea typeface="Calibri" panose="020F0502020204030204" pitchFamily="34" charset="0"/>
                <a:cs typeface="Mangal" panose="02040503050203030202" pitchFamily="18" charset="0"/>
              </a:rPr>
              <a:t>User Story: Status – In Progress</a:t>
            </a:r>
          </a:p>
          <a:p>
            <a:pPr marL="1143000" marR="0" lvl="2" indent="-228600">
              <a:lnSpc>
                <a:spcPct val="107000"/>
              </a:lnSpc>
              <a:spcBef>
                <a:spcPts val="0"/>
              </a:spcBef>
              <a:spcAft>
                <a:spcPts val="0"/>
              </a:spcAft>
              <a:buFont typeface="+mj-lt"/>
              <a:buAutoNum type="romanLcPeriod"/>
            </a:pPr>
            <a:r>
              <a:rPr lang="en-US" sz="1100" dirty="0">
                <a:effectLst/>
                <a:latin typeface="Calibri" panose="020F0502020204030204" pitchFamily="34" charset="0"/>
                <a:ea typeface="Calibri" panose="020F0502020204030204" pitchFamily="34" charset="0"/>
                <a:cs typeface="Mangal" panose="02040503050203030202" pitchFamily="18" charset="0"/>
              </a:rPr>
              <a:t>Dev &amp; QA</a:t>
            </a:r>
          </a:p>
          <a:p>
            <a:pPr marL="1600200" marR="0" lvl="3" indent="-228600">
              <a:lnSpc>
                <a:spcPct val="107000"/>
              </a:lnSpc>
              <a:spcBef>
                <a:spcPts val="0"/>
              </a:spcBef>
              <a:spcAft>
                <a:spcPts val="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Understand the requirement of the User Story</a:t>
            </a:r>
          </a:p>
          <a:p>
            <a:pPr marL="1600200" marR="0" lvl="3" indent="-228600">
              <a:lnSpc>
                <a:spcPct val="107000"/>
              </a:lnSpc>
              <a:spcBef>
                <a:spcPts val="0"/>
              </a:spcBef>
              <a:spcAft>
                <a:spcPts val="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Write Acceptance Criteria (AC) / Exit Criteria</a:t>
            </a:r>
          </a:p>
          <a:p>
            <a:pPr marL="1143000" marR="0" lvl="2" indent="-228600">
              <a:lnSpc>
                <a:spcPct val="107000"/>
              </a:lnSpc>
              <a:spcBef>
                <a:spcPts val="0"/>
              </a:spcBef>
              <a:spcAft>
                <a:spcPts val="0"/>
              </a:spcAft>
              <a:buFont typeface="+mj-lt"/>
              <a:buAutoNum type="romanLcPeriod"/>
            </a:pPr>
            <a:r>
              <a:rPr lang="en-US" sz="1100" dirty="0">
                <a:effectLst/>
                <a:latin typeface="Calibri" panose="020F0502020204030204" pitchFamily="34" charset="0"/>
                <a:ea typeface="Calibri" panose="020F0502020204030204" pitchFamily="34" charset="0"/>
                <a:cs typeface="Mangal" panose="02040503050203030202" pitchFamily="18" charset="0"/>
              </a:rPr>
              <a:t>Developers: Dev tasks</a:t>
            </a:r>
          </a:p>
          <a:p>
            <a:pPr marL="1600200" marR="0" lvl="3" indent="-228600">
              <a:lnSpc>
                <a:spcPct val="107000"/>
              </a:lnSpc>
              <a:spcBef>
                <a:spcPts val="0"/>
              </a:spcBef>
              <a:spcAft>
                <a:spcPts val="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Grooming</a:t>
            </a:r>
          </a:p>
          <a:p>
            <a:pPr marL="1600200" marR="0" lvl="3" indent="-228600">
              <a:lnSpc>
                <a:spcPct val="107000"/>
              </a:lnSpc>
              <a:spcBef>
                <a:spcPts val="0"/>
              </a:spcBef>
              <a:spcAft>
                <a:spcPts val="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UI/UX</a:t>
            </a:r>
          </a:p>
          <a:p>
            <a:pPr marL="1600200" marR="0" lvl="3" indent="-228600">
              <a:lnSpc>
                <a:spcPct val="107000"/>
              </a:lnSpc>
              <a:spcBef>
                <a:spcPts val="0"/>
              </a:spcBef>
              <a:spcAft>
                <a:spcPts val="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API</a:t>
            </a:r>
          </a:p>
          <a:p>
            <a:pPr marL="1143000" marR="0" lvl="2" indent="-228600">
              <a:lnSpc>
                <a:spcPct val="107000"/>
              </a:lnSpc>
              <a:spcBef>
                <a:spcPts val="0"/>
              </a:spcBef>
              <a:spcAft>
                <a:spcPts val="0"/>
              </a:spcAft>
              <a:buFont typeface="+mj-lt"/>
              <a:buAutoNum type="romanLcPeriod"/>
            </a:pPr>
            <a:r>
              <a:rPr lang="en-US" sz="1100" dirty="0">
                <a:effectLst/>
                <a:latin typeface="Calibri" panose="020F0502020204030204" pitchFamily="34" charset="0"/>
                <a:ea typeface="Calibri" panose="020F0502020204030204" pitchFamily="34" charset="0"/>
                <a:cs typeface="Mangal" panose="02040503050203030202" pitchFamily="18" charset="0"/>
              </a:rPr>
              <a:t>QA: Testing tasks</a:t>
            </a:r>
          </a:p>
          <a:p>
            <a:pPr marL="1600200" marR="0" lvl="3" indent="-228600">
              <a:lnSpc>
                <a:spcPct val="107000"/>
              </a:lnSpc>
              <a:spcBef>
                <a:spcPts val="0"/>
              </a:spcBef>
              <a:spcAft>
                <a:spcPts val="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Test Plan</a:t>
            </a:r>
          </a:p>
          <a:p>
            <a:pPr marL="1600200" marR="0" lvl="3" indent="-228600">
              <a:lnSpc>
                <a:spcPct val="107000"/>
              </a:lnSpc>
              <a:spcBef>
                <a:spcPts val="0"/>
              </a:spcBef>
              <a:spcAft>
                <a:spcPts val="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Test Tasks</a:t>
            </a:r>
          </a:p>
          <a:p>
            <a:pPr marL="1600200" marR="0" lvl="3" indent="-228600">
              <a:lnSpc>
                <a:spcPct val="107000"/>
              </a:lnSpc>
              <a:spcBef>
                <a:spcPts val="0"/>
              </a:spcBef>
              <a:spcAft>
                <a:spcPts val="0"/>
              </a:spcAft>
              <a:buFont typeface="+mj-lt"/>
              <a:buAutoNum type="arabicPeriod"/>
            </a:pPr>
            <a:r>
              <a:rPr lang="en-US" sz="1100" dirty="0">
                <a:latin typeface="Calibri" panose="020F0502020204030204" pitchFamily="34" charset="0"/>
                <a:ea typeface="Calibri" panose="020F0502020204030204" pitchFamily="34" charset="0"/>
                <a:cs typeface="Mangal" panose="02040503050203030202" pitchFamily="18" charset="0"/>
              </a:rPr>
              <a:t>Test Case Writing</a:t>
            </a:r>
            <a:endParaRPr lang="en-US" sz="1100" dirty="0">
              <a:effectLst/>
              <a:latin typeface="Calibri" panose="020F0502020204030204" pitchFamily="34" charset="0"/>
              <a:ea typeface="Calibri" panose="020F0502020204030204" pitchFamily="34" charset="0"/>
              <a:cs typeface="Mangal" panose="02040503050203030202" pitchFamily="18" charset="0"/>
            </a:endParaRPr>
          </a:p>
          <a:p>
            <a:pPr marL="342900" marR="0" lvl="0" indent="-342900">
              <a:lnSpc>
                <a:spcPct val="107000"/>
              </a:lnSpc>
              <a:spcBef>
                <a:spcPts val="0"/>
              </a:spcBef>
              <a:spcAft>
                <a:spcPts val="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Building (Developing)</a:t>
            </a:r>
          </a:p>
          <a:p>
            <a:pPr marL="742950" marR="0" lvl="1" indent="-285750">
              <a:lnSpc>
                <a:spcPct val="107000"/>
              </a:lnSpc>
              <a:spcBef>
                <a:spcPts val="0"/>
              </a:spcBef>
              <a:spcAft>
                <a:spcPts val="0"/>
              </a:spcAft>
              <a:buFont typeface="+mj-lt"/>
              <a:buAutoNum type="alphaLcPeriod"/>
            </a:pPr>
            <a:r>
              <a:rPr lang="en-US" sz="1100" dirty="0">
                <a:effectLst/>
                <a:latin typeface="Calibri" panose="020F0502020204030204" pitchFamily="34" charset="0"/>
                <a:ea typeface="Calibri" panose="020F0502020204030204" pitchFamily="34" charset="0"/>
                <a:cs typeface="Mangal" panose="02040503050203030202" pitchFamily="18" charset="0"/>
              </a:rPr>
              <a:t>Code creation/changes</a:t>
            </a:r>
          </a:p>
          <a:p>
            <a:pPr marL="742950" marR="0" lvl="1" indent="-285750">
              <a:lnSpc>
                <a:spcPct val="107000"/>
              </a:lnSpc>
              <a:spcBef>
                <a:spcPts val="0"/>
              </a:spcBef>
              <a:spcAft>
                <a:spcPts val="800"/>
              </a:spcAft>
              <a:buFont typeface="+mj-lt"/>
              <a:buAutoNum type="alphaLcPeriod"/>
            </a:pPr>
            <a:r>
              <a:rPr lang="en-US" sz="1100" dirty="0">
                <a:effectLst/>
                <a:latin typeface="Calibri" panose="020F0502020204030204" pitchFamily="34" charset="0"/>
                <a:ea typeface="Calibri" panose="020F0502020204030204" pitchFamily="34" charset="0"/>
                <a:cs typeface="Mangal" panose="02040503050203030202" pitchFamily="18" charset="0"/>
              </a:rPr>
              <a:t>Merge/Integrate with repository</a:t>
            </a:r>
          </a:p>
          <a:p>
            <a:pPr marL="685800" marR="0" indent="457200">
              <a:lnSpc>
                <a:spcPct val="107000"/>
              </a:lnSpc>
              <a:spcBef>
                <a:spcPts val="0"/>
              </a:spcBef>
              <a:spcAft>
                <a:spcPts val="800"/>
              </a:spcAft>
            </a:pPr>
            <a:r>
              <a:rPr lang="en-US" sz="1100" dirty="0">
                <a:effectLst/>
                <a:latin typeface="Calibri" panose="020F0502020204030204" pitchFamily="34" charset="0"/>
                <a:ea typeface="Calibri" panose="020F0502020204030204" pitchFamily="34" charset="0"/>
                <a:cs typeface="Mangal" panose="02040503050203030202" pitchFamily="18" charset="0"/>
              </a:rPr>
              <a:t>Ref: </a:t>
            </a:r>
            <a:r>
              <a:rPr lang="en-US" sz="1100" u="sng" dirty="0">
                <a:solidFill>
                  <a:srgbClr val="0563C1"/>
                </a:solidFill>
                <a:effectLst/>
                <a:latin typeface="Calibri" panose="020F0502020204030204" pitchFamily="34" charset="0"/>
                <a:ea typeface="Calibri" panose="020F0502020204030204" pitchFamily="34" charset="0"/>
                <a:cs typeface="Mangal" panose="02040503050203030202" pitchFamily="18" charset="0"/>
                <a:hlinkClick r:id="rId4"/>
              </a:rPr>
              <a:t>https://bio-rdjira.dsone.3ds.com/browse/XINV-1649</a:t>
            </a:r>
            <a:endParaRPr lang="en-US" sz="1100" dirty="0">
              <a:effectLst/>
              <a:latin typeface="Calibri" panose="020F0502020204030204" pitchFamily="34" charset="0"/>
              <a:ea typeface="Calibri" panose="020F0502020204030204" pitchFamily="34" charset="0"/>
              <a:cs typeface="Mangal" panose="02040503050203030202" pitchFamily="18" charset="0"/>
            </a:endParaRPr>
          </a:p>
          <a:p>
            <a:pPr marL="742950" marR="0" lvl="1" indent="-285750">
              <a:lnSpc>
                <a:spcPct val="107000"/>
              </a:lnSpc>
              <a:spcBef>
                <a:spcPts val="0"/>
              </a:spcBef>
              <a:spcAft>
                <a:spcPts val="0"/>
              </a:spcAft>
              <a:buFont typeface="+mj-lt"/>
              <a:buAutoNum type="alphaLcPeriod"/>
            </a:pPr>
            <a:r>
              <a:rPr lang="en-US" sz="1100" dirty="0">
                <a:effectLst/>
                <a:latin typeface="Calibri" panose="020F0502020204030204" pitchFamily="34" charset="0"/>
                <a:ea typeface="Calibri" panose="020F0502020204030204" pitchFamily="34" charset="0"/>
                <a:cs typeface="Mangal" panose="02040503050203030202" pitchFamily="18" charset="0"/>
              </a:rPr>
              <a:t>Pipeline created</a:t>
            </a:r>
          </a:p>
          <a:p>
            <a:pPr marL="1143000" marR="0" lvl="2" indent="-228600">
              <a:lnSpc>
                <a:spcPct val="107000"/>
              </a:lnSpc>
              <a:spcBef>
                <a:spcPts val="0"/>
              </a:spcBef>
              <a:spcAft>
                <a:spcPts val="0"/>
              </a:spcAft>
              <a:buFont typeface="+mj-lt"/>
              <a:buAutoNum type="romanLcPeriod"/>
            </a:pPr>
            <a:r>
              <a:rPr lang="en-US" sz="1100" dirty="0">
                <a:effectLst/>
                <a:latin typeface="Calibri" panose="020F0502020204030204" pitchFamily="34" charset="0"/>
                <a:ea typeface="Calibri" panose="020F0502020204030204" pitchFamily="34" charset="0"/>
                <a:cs typeface="Mangal" panose="02040503050203030202" pitchFamily="18" charset="0"/>
              </a:rPr>
              <a:t>Tested(Unit Testing), build generated(Green)</a:t>
            </a:r>
          </a:p>
          <a:p>
            <a:pPr marL="742950" marR="0" lvl="1" indent="-285750">
              <a:lnSpc>
                <a:spcPct val="107000"/>
              </a:lnSpc>
              <a:spcBef>
                <a:spcPts val="0"/>
              </a:spcBef>
              <a:spcAft>
                <a:spcPts val="0"/>
              </a:spcAft>
              <a:buFont typeface="+mj-lt"/>
              <a:buAutoNum type="alphaLcPeriod"/>
            </a:pPr>
            <a:r>
              <a:rPr lang="en-US" sz="1100" dirty="0">
                <a:effectLst/>
                <a:latin typeface="Calibri" panose="020F0502020204030204" pitchFamily="34" charset="0"/>
                <a:ea typeface="Calibri" panose="020F0502020204030204" pitchFamily="34" charset="0"/>
                <a:cs typeface="Mangal" panose="02040503050203030202" pitchFamily="18" charset="0"/>
              </a:rPr>
              <a:t>User Story</a:t>
            </a:r>
          </a:p>
          <a:p>
            <a:pPr marL="1143000" marR="0" lvl="2" indent="-228600">
              <a:lnSpc>
                <a:spcPct val="107000"/>
              </a:lnSpc>
              <a:spcBef>
                <a:spcPts val="0"/>
              </a:spcBef>
              <a:spcAft>
                <a:spcPts val="0"/>
              </a:spcAft>
              <a:buFont typeface="+mj-lt"/>
              <a:buAutoNum type="romanLcPeriod"/>
            </a:pPr>
            <a:r>
              <a:rPr lang="en-US" sz="1100" dirty="0">
                <a:effectLst/>
                <a:latin typeface="Calibri" panose="020F0502020204030204" pitchFamily="34" charset="0"/>
                <a:ea typeface="Calibri" panose="020F0502020204030204" pitchFamily="34" charset="0"/>
                <a:cs typeface="Mangal" panose="02040503050203030202" pitchFamily="18" charset="0"/>
              </a:rPr>
              <a:t>Status: Under Test</a:t>
            </a:r>
          </a:p>
          <a:p>
            <a:pPr marL="342900" marR="0" lvl="0" indent="-342900">
              <a:lnSpc>
                <a:spcPct val="107000"/>
              </a:lnSpc>
              <a:spcBef>
                <a:spcPts val="0"/>
              </a:spcBef>
              <a:spcAft>
                <a:spcPts val="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Testing (in Integration build)</a:t>
            </a:r>
          </a:p>
          <a:p>
            <a:pPr marL="742950" marR="0" lvl="1" indent="-285750">
              <a:lnSpc>
                <a:spcPct val="107000"/>
              </a:lnSpc>
              <a:spcBef>
                <a:spcPts val="0"/>
              </a:spcBef>
              <a:spcAft>
                <a:spcPts val="0"/>
              </a:spcAft>
              <a:buFont typeface="+mj-lt"/>
              <a:buAutoNum type="alphaLcPeriod"/>
            </a:pPr>
            <a:r>
              <a:rPr lang="en-US" sz="1100" dirty="0">
                <a:effectLst/>
                <a:latin typeface="Calibri" panose="020F0502020204030204" pitchFamily="34" charset="0"/>
                <a:ea typeface="Calibri" panose="020F0502020204030204" pitchFamily="34" charset="0"/>
                <a:cs typeface="Mangal" panose="02040503050203030202" pitchFamily="18" charset="0"/>
              </a:rPr>
              <a:t>Grab the build, install and Start testing</a:t>
            </a:r>
          </a:p>
          <a:p>
            <a:pPr marL="342900" marR="0" lvl="0" indent="-342900">
              <a:lnSpc>
                <a:spcPct val="107000"/>
              </a:lnSpc>
              <a:spcBef>
                <a:spcPts val="0"/>
              </a:spcBef>
              <a:spcAft>
                <a:spcPts val="800"/>
              </a:spcAft>
              <a:buFont typeface="+mj-lt"/>
              <a:buAutoNum type="arabicPeriod"/>
            </a:pPr>
            <a:r>
              <a:rPr lang="en-US" sz="1100" dirty="0">
                <a:effectLst/>
                <a:latin typeface="Calibri" panose="020F0502020204030204" pitchFamily="34" charset="0"/>
                <a:ea typeface="Calibri" panose="020F0502020204030204" pitchFamily="34" charset="0"/>
                <a:cs typeface="Mangal" panose="02040503050203030202" pitchFamily="18" charset="0"/>
              </a:rPr>
              <a:t>Deployment and Maintenance (After building and testing all the US of release)</a:t>
            </a:r>
          </a:p>
          <a:p>
            <a:r>
              <a:rPr lang="en-US" sz="1100" u="sng" dirty="0">
                <a:solidFill>
                  <a:srgbClr val="0563C1"/>
                </a:solidFill>
                <a:effectLst/>
                <a:latin typeface="Calibri" panose="020F0502020204030204" pitchFamily="34" charset="0"/>
                <a:ea typeface="Calibri" panose="020F0502020204030204" pitchFamily="34" charset="0"/>
                <a:cs typeface="Mangal" panose="02040503050203030202" pitchFamily="18" charset="0"/>
                <a:hlinkClick r:id="rId5"/>
              </a:rPr>
              <a:t>https://bio-rdjira.dsone.3ds.com/browse/XINV-1414</a:t>
            </a:r>
            <a:r>
              <a:rPr lang="en-US" sz="1100" dirty="0">
                <a:effectLst/>
                <a:latin typeface="Calibri" panose="020F0502020204030204" pitchFamily="34" charset="0"/>
                <a:ea typeface="Calibri" panose="020F0502020204030204" pitchFamily="34" charset="0"/>
                <a:cs typeface="Mangal" panose="02040503050203030202" pitchFamily="18" charset="0"/>
              </a:rPr>
              <a:t> </a:t>
            </a:r>
            <a:endParaRPr lang="en-US" sz="2100" dirty="0"/>
          </a:p>
        </p:txBody>
      </p:sp>
    </p:spTree>
    <p:extLst>
      <p:ext uri="{BB962C8B-B14F-4D97-AF65-F5344CB8AC3E}">
        <p14:creationId xmlns:p14="http://schemas.microsoft.com/office/powerpoint/2010/main" val="16995341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089A9-9597-48E4-B598-7BBE0AD2470B}"/>
              </a:ext>
            </a:extLst>
          </p:cNvPr>
          <p:cNvSpPr>
            <a:spLocks noGrp="1"/>
          </p:cNvSpPr>
          <p:nvPr>
            <p:ph type="title"/>
          </p:nvPr>
        </p:nvSpPr>
        <p:spPr>
          <a:xfrm>
            <a:off x="838200" y="365125"/>
            <a:ext cx="10515600" cy="523875"/>
          </a:xfrm>
        </p:spPr>
        <p:txBody>
          <a:bodyPr>
            <a:normAutofit/>
          </a:bodyPr>
          <a:lstStyle/>
          <a:p>
            <a:r>
              <a:rPr lang="en-US" sz="2400" b="1" dirty="0"/>
              <a:t>A Functional Use Case-2 Explained</a:t>
            </a:r>
            <a:endParaRPr lang="en-US" sz="2400" dirty="0"/>
          </a:p>
        </p:txBody>
      </p:sp>
      <p:sp>
        <p:nvSpPr>
          <p:cNvPr id="3" name="Content Placeholder 2">
            <a:extLst>
              <a:ext uri="{FF2B5EF4-FFF2-40B4-BE49-F238E27FC236}">
                <a16:creationId xmlns:a16="http://schemas.microsoft.com/office/drawing/2014/main" id="{767101C2-8A10-4AA1-A452-1F59877F13C0}"/>
              </a:ext>
            </a:extLst>
          </p:cNvPr>
          <p:cNvSpPr>
            <a:spLocks noGrp="1"/>
          </p:cNvSpPr>
          <p:nvPr>
            <p:ph idx="1"/>
          </p:nvPr>
        </p:nvSpPr>
        <p:spPr>
          <a:xfrm>
            <a:off x="838200" y="1032933"/>
            <a:ext cx="10515600" cy="5144030"/>
          </a:xfrm>
        </p:spPr>
        <p:txBody>
          <a:bodyPr/>
          <a:lstStyle/>
          <a:p>
            <a:r>
              <a:rPr lang="en-US" dirty="0"/>
              <a:t>Dispense Quantity</a:t>
            </a:r>
          </a:p>
          <a:p>
            <a:pPr lvl="1"/>
            <a:r>
              <a:rPr lang="en-US" dirty="0"/>
              <a:t>Functional Specification: Requirements, Technical Analysis etc.</a:t>
            </a:r>
          </a:p>
          <a:p>
            <a:pPr lvl="1"/>
            <a:r>
              <a:rPr lang="en-US" dirty="0"/>
              <a:t>Epic: </a:t>
            </a:r>
            <a:r>
              <a:rPr lang="en-US" dirty="0">
                <a:hlinkClick r:id="rId2"/>
              </a:rPr>
              <a:t>https://bio-rdjira.dsone.3ds.com/browse/XINV-1587</a:t>
            </a:r>
            <a:endParaRPr lang="en-US" dirty="0"/>
          </a:p>
          <a:p>
            <a:pPr lvl="1"/>
            <a:r>
              <a:rPr lang="en-US" dirty="0"/>
              <a:t>User Story: </a:t>
            </a:r>
            <a:r>
              <a:rPr lang="en-US" dirty="0">
                <a:hlinkClick r:id="rId3"/>
              </a:rPr>
              <a:t>https://bio-rdjira.dsone.3ds.com/browse/XINV-1657</a:t>
            </a:r>
            <a:endParaRPr lang="en-US" dirty="0"/>
          </a:p>
          <a:p>
            <a:pPr lvl="1"/>
            <a:r>
              <a:rPr lang="en-US" dirty="0"/>
              <a:t>Test Case: </a:t>
            </a:r>
            <a:r>
              <a:rPr lang="en-US" dirty="0">
                <a:effectLst/>
                <a:hlinkClick r:id="rId4" tooltip="Dispense a container for use or verify the quantity"/>
              </a:rPr>
              <a:t>https://dsxdev-online.dsone.3ds.com/enovia/common/emxNavigator.jsp?physicalId=7D5CB056E91F1200670D1DA000052646</a:t>
            </a:r>
            <a:endParaRPr lang="en-US" dirty="0">
              <a:effectLst/>
            </a:endParaRPr>
          </a:p>
          <a:p>
            <a:pPr lvl="1"/>
            <a:r>
              <a:rPr lang="en-US" dirty="0">
                <a:effectLst/>
              </a:rPr>
              <a:t>Test Execution against Target build(release) – Replay</a:t>
            </a:r>
          </a:p>
          <a:p>
            <a:pPr lvl="1"/>
            <a:endParaRPr lang="en-US" dirty="0">
              <a:effectLst/>
            </a:endParaRPr>
          </a:p>
          <a:p>
            <a:pPr lvl="1"/>
            <a:endParaRPr lang="en-US" dirty="0"/>
          </a:p>
          <a:p>
            <a:pPr lvl="1"/>
            <a:endParaRPr lang="en-US" dirty="0"/>
          </a:p>
        </p:txBody>
      </p:sp>
    </p:spTree>
    <p:extLst>
      <p:ext uri="{BB962C8B-B14F-4D97-AF65-F5344CB8AC3E}">
        <p14:creationId xmlns:p14="http://schemas.microsoft.com/office/powerpoint/2010/main" val="29705592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EF80EBE7-9511-4376-A9D8-EF45488FC796}"/>
              </a:ext>
            </a:extLst>
          </p:cNvPr>
          <p:cNvGraphicFramePr>
            <a:graphicFrameLocks noGrp="1"/>
          </p:cNvGraphicFramePr>
          <p:nvPr>
            <p:ph sz="half" idx="1"/>
            <p:extLst>
              <p:ext uri="{D42A27DB-BD31-4B8C-83A1-F6EECF244321}">
                <p14:modId xmlns:p14="http://schemas.microsoft.com/office/powerpoint/2010/main" val="1557998128"/>
              </p:ext>
            </p:extLst>
          </p:nvPr>
        </p:nvGraphicFramePr>
        <p:xfrm>
          <a:off x="177801" y="1838425"/>
          <a:ext cx="11815276" cy="4637536"/>
        </p:xfrm>
        <a:graphic>
          <a:graphicData uri="http://schemas.openxmlformats.org/drawingml/2006/table">
            <a:tbl>
              <a:tblPr/>
              <a:tblGrid>
                <a:gridCol w="3345044">
                  <a:extLst>
                    <a:ext uri="{9D8B030D-6E8A-4147-A177-3AD203B41FA5}">
                      <a16:colId xmlns:a16="http://schemas.microsoft.com/office/drawing/2014/main" val="390710867"/>
                    </a:ext>
                  </a:extLst>
                </a:gridCol>
                <a:gridCol w="2608447">
                  <a:extLst>
                    <a:ext uri="{9D8B030D-6E8A-4147-A177-3AD203B41FA5}">
                      <a16:colId xmlns:a16="http://schemas.microsoft.com/office/drawing/2014/main" val="3032356321"/>
                    </a:ext>
                  </a:extLst>
                </a:gridCol>
                <a:gridCol w="2531444">
                  <a:extLst>
                    <a:ext uri="{9D8B030D-6E8A-4147-A177-3AD203B41FA5}">
                      <a16:colId xmlns:a16="http://schemas.microsoft.com/office/drawing/2014/main" val="2819096032"/>
                    </a:ext>
                  </a:extLst>
                </a:gridCol>
                <a:gridCol w="3330341">
                  <a:extLst>
                    <a:ext uri="{9D8B030D-6E8A-4147-A177-3AD203B41FA5}">
                      <a16:colId xmlns:a16="http://schemas.microsoft.com/office/drawing/2014/main" val="4200612597"/>
                    </a:ext>
                  </a:extLst>
                </a:gridCol>
              </a:tblGrid>
              <a:tr h="637486">
                <a:tc>
                  <a:txBody>
                    <a:bodyPr/>
                    <a:lstStyle/>
                    <a:p>
                      <a:r>
                        <a:rPr lang="en-US" dirty="0"/>
                        <a:t>📝 Product Backlog</a:t>
                      </a:r>
                    </a:p>
                  </a:txBody>
                  <a:tcPr anchor="ctr">
                    <a:lnL>
                      <a:noFill/>
                    </a:lnL>
                    <a:lnR>
                      <a:noFill/>
                    </a:lnR>
                    <a:lnT>
                      <a:noFill/>
                    </a:lnT>
                    <a:lnB>
                      <a:noFill/>
                    </a:lnB>
                  </a:tcPr>
                </a:tc>
                <a:tc>
                  <a:txBody>
                    <a:bodyPr/>
                    <a:lstStyle/>
                    <a:p>
                      <a:r>
                        <a:rPr lang="en-US" dirty="0"/>
                        <a:t>🚀 Sprint Backlog(User Story)</a:t>
                      </a:r>
                    </a:p>
                  </a:txBody>
                  <a:tcPr anchor="ctr">
                    <a:lnL>
                      <a:noFill/>
                    </a:lnL>
                    <a:lnR>
                      <a:noFill/>
                    </a:lnR>
                    <a:lnT>
                      <a:noFill/>
                    </a:lnT>
                    <a:lnB>
                      <a:noFill/>
                    </a:lnB>
                  </a:tcPr>
                </a:tc>
                <a:tc>
                  <a:txBody>
                    <a:bodyPr/>
                    <a:lstStyle/>
                    <a:p>
                      <a:r>
                        <a:rPr lang="en-US" dirty="0"/>
                        <a:t>🔄 In Progress (Tasks)</a:t>
                      </a:r>
                    </a:p>
                  </a:txBody>
                  <a:tcPr anchor="ctr">
                    <a:lnL>
                      <a:noFill/>
                    </a:lnL>
                    <a:lnR>
                      <a:noFill/>
                    </a:lnR>
                    <a:lnT>
                      <a:noFill/>
                    </a:lnT>
                    <a:lnB>
                      <a:noFill/>
                    </a:lnB>
                  </a:tcPr>
                </a:tc>
                <a:tc>
                  <a:txBody>
                    <a:bodyPr/>
                    <a:lstStyle/>
                    <a:p>
                      <a:r>
                        <a:rPr lang="en-US" dirty="0"/>
                        <a:t>✅ Done</a:t>
                      </a:r>
                    </a:p>
                  </a:txBody>
                  <a:tcPr anchor="ctr">
                    <a:lnL>
                      <a:noFill/>
                    </a:lnL>
                    <a:lnR>
                      <a:noFill/>
                    </a:lnR>
                    <a:lnT>
                      <a:noFill/>
                    </a:lnT>
                    <a:lnB>
                      <a:noFill/>
                    </a:lnB>
                  </a:tcPr>
                </a:tc>
                <a:extLst>
                  <a:ext uri="{0D108BD9-81ED-4DB2-BD59-A6C34878D82A}">
                    <a16:rowId xmlns:a16="http://schemas.microsoft.com/office/drawing/2014/main" val="814747685"/>
                  </a:ext>
                </a:extLst>
              </a:tr>
              <a:tr h="679324">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how Agile works</a:t>
                      </a:r>
                    </a:p>
                  </a:txBody>
                  <a:tcPr anchor="ctr">
                    <a:lnL>
                      <a:noFill/>
                    </a:lnL>
                    <a:lnR>
                      <a:noFill/>
                    </a:lnR>
                    <a:lnT>
                      <a:noFill/>
                    </a:lnT>
                    <a:lnB>
                      <a:noFill/>
                    </a:lnB>
                  </a:tcPr>
                </a:tc>
                <a:tc>
                  <a:txBody>
                    <a:bodyPr/>
                    <a:lstStyle/>
                    <a:p>
                      <a:r>
                        <a:rPr lang="en-US" dirty="0"/>
                        <a:t>As a student, study Agile process</a:t>
                      </a:r>
                    </a:p>
                  </a:txBody>
                  <a:tcPr anchor="ctr">
                    <a:lnL>
                      <a:noFill/>
                    </a:lnL>
                    <a:lnR>
                      <a:noFill/>
                    </a:lnR>
                    <a:lnT>
                      <a:noFill/>
                    </a:lnT>
                    <a:lnB>
                      <a:noFill/>
                    </a:lnB>
                  </a:tcPr>
                </a:tc>
                <a:tc>
                  <a:txBody>
                    <a:bodyPr/>
                    <a:lstStyle/>
                    <a:p>
                      <a:r>
                        <a:rPr lang="en-US" dirty="0"/>
                        <a:t>Task - Understanding Agile process</a:t>
                      </a:r>
                    </a:p>
                  </a:txBody>
                  <a:tcPr anchor="ctr">
                    <a:lnL>
                      <a:noFill/>
                    </a:lnL>
                    <a:lnR>
                      <a:noFill/>
                    </a:lnR>
                    <a:lnT>
                      <a:noFill/>
                    </a:lnT>
                    <a:lnB>
                      <a:noFill/>
                    </a:lnB>
                  </a:tcPr>
                </a:tc>
                <a:tc>
                  <a:txBody>
                    <a:bodyPr/>
                    <a:lstStyle/>
                    <a:p>
                      <a:r>
                        <a:rPr lang="en-US" dirty="0"/>
                        <a:t>✔ Agile process understood</a:t>
                      </a:r>
                    </a:p>
                  </a:txBody>
                  <a:tcPr anchor="ctr">
                    <a:lnL>
                      <a:noFill/>
                    </a:lnL>
                    <a:lnR>
                      <a:noFill/>
                    </a:lnR>
                    <a:lnT>
                      <a:noFill/>
                    </a:lnT>
                    <a:lnB>
                      <a:noFill/>
                    </a:lnB>
                  </a:tcPr>
                </a:tc>
                <a:extLst>
                  <a:ext uri="{0D108BD9-81ED-4DB2-BD59-A6C34878D82A}">
                    <a16:rowId xmlns:a16="http://schemas.microsoft.com/office/drawing/2014/main" val="3142898237"/>
                  </a:ext>
                </a:extLst>
              </a:tr>
              <a:tr h="679324">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Agile way of testing</a:t>
                      </a:r>
                    </a:p>
                  </a:txBody>
                  <a:tcPr anchor="ctr">
                    <a:lnL>
                      <a:noFill/>
                    </a:lnL>
                    <a:lnR>
                      <a:noFill/>
                    </a:lnR>
                    <a:lnT>
                      <a:noFill/>
                    </a:lnT>
                    <a:lnB>
                      <a:noFill/>
                    </a:lnB>
                  </a:tcPr>
                </a:tc>
                <a:tc>
                  <a:txBody>
                    <a:bodyPr/>
                    <a:lstStyle/>
                    <a:p>
                      <a:r>
                        <a:rPr lang="en-US" dirty="0"/>
                        <a:t>As a student, learn Agile testing</a:t>
                      </a:r>
                    </a:p>
                  </a:txBody>
                  <a:tcPr anchor="ctr">
                    <a:lnL>
                      <a:noFill/>
                    </a:lnL>
                    <a:lnR>
                      <a:noFill/>
                    </a:lnR>
                    <a:lnT>
                      <a:noFill/>
                    </a:lnT>
                    <a:lnB>
                      <a:noFill/>
                    </a:lnB>
                  </a:tcPr>
                </a:tc>
                <a:tc>
                  <a:txBody>
                    <a:bodyPr/>
                    <a:lstStyle/>
                    <a:p>
                      <a:r>
                        <a:rPr lang="en-US" dirty="0"/>
                        <a:t>Task - Understanding Agile Testing</a:t>
                      </a:r>
                    </a:p>
                  </a:txBody>
                  <a:tcPr anchor="ctr">
                    <a:lnL>
                      <a:noFill/>
                    </a:lnL>
                    <a:lnR>
                      <a:noFill/>
                    </a:lnR>
                    <a:lnT>
                      <a:noFill/>
                    </a:lnT>
                    <a:lnB>
                      <a:noFill/>
                    </a:lnB>
                  </a:tcPr>
                </a:tc>
                <a:tc>
                  <a:txBody>
                    <a:bodyPr/>
                    <a:lstStyle/>
                    <a:p>
                      <a:r>
                        <a:rPr lang="en-US" dirty="0"/>
                        <a:t>✔ Agile Testing understood</a:t>
                      </a:r>
                    </a:p>
                  </a:txBody>
                  <a:tcPr anchor="ctr">
                    <a:lnL>
                      <a:noFill/>
                    </a:lnL>
                    <a:lnR>
                      <a:noFill/>
                    </a:lnR>
                    <a:lnT>
                      <a:noFill/>
                    </a:lnT>
                    <a:lnB>
                      <a:noFill/>
                    </a:lnB>
                  </a:tcPr>
                </a:tc>
                <a:extLst>
                  <a:ext uri="{0D108BD9-81ED-4DB2-BD59-A6C34878D82A}">
                    <a16:rowId xmlns:a16="http://schemas.microsoft.com/office/drawing/2014/main" val="905822386"/>
                  </a:ext>
                </a:extLst>
              </a:tr>
              <a:tr h="679324">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Software Testing types</a:t>
                      </a:r>
                    </a:p>
                  </a:txBody>
                  <a:tcPr anchor="ctr">
                    <a:lnL>
                      <a:noFill/>
                    </a:lnL>
                    <a:lnR>
                      <a:noFill/>
                    </a:lnR>
                    <a:lnT>
                      <a:noFill/>
                    </a:lnT>
                    <a:lnB>
                      <a:noFill/>
                    </a:lnB>
                  </a:tcPr>
                </a:tc>
                <a:tc>
                  <a:txBody>
                    <a:bodyPr/>
                    <a:lstStyle/>
                    <a:p>
                      <a:r>
                        <a:rPr lang="en-US" dirty="0"/>
                        <a:t>As a student, understand Software Testing types</a:t>
                      </a:r>
                    </a:p>
                  </a:txBody>
                  <a:tcPr anchor="ctr">
                    <a:lnL>
                      <a:noFill/>
                    </a:lnL>
                    <a:lnR>
                      <a:noFill/>
                    </a:lnR>
                    <a:lnT>
                      <a:noFill/>
                    </a:lnT>
                    <a:lnB>
                      <a:noFill/>
                    </a:lnB>
                  </a:tcPr>
                </a:tc>
                <a:tc>
                  <a:txBody>
                    <a:bodyPr/>
                    <a:lstStyle/>
                    <a:p>
                      <a:r>
                        <a:rPr lang="en-US" dirty="0"/>
                        <a:t>Task - Understanding Software Testing types</a:t>
                      </a:r>
                    </a:p>
                  </a:txBody>
                  <a:tcPr anchor="ctr">
                    <a:lnL>
                      <a:noFill/>
                    </a:lnL>
                    <a:lnR>
                      <a:noFill/>
                    </a:lnR>
                    <a:lnT>
                      <a:noFill/>
                    </a:lnT>
                    <a:lnB>
                      <a:noFill/>
                    </a:lnB>
                  </a:tcPr>
                </a:tc>
                <a:tc>
                  <a:txBody>
                    <a:bodyPr/>
                    <a:lstStyle/>
                    <a:p>
                      <a:r>
                        <a:rPr lang="en-US" dirty="0"/>
                        <a:t> </a:t>
                      </a:r>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Testing types understood</a:t>
                      </a:r>
                    </a:p>
                  </a:txBody>
                  <a:tcPr anchor="ctr">
                    <a:lnL>
                      <a:noFill/>
                    </a:lnL>
                    <a:lnR>
                      <a:noFill/>
                    </a:lnR>
                    <a:lnT>
                      <a:noFill/>
                    </a:lnT>
                    <a:lnB>
                      <a:noFill/>
                    </a:lnB>
                  </a:tcPr>
                </a:tc>
                <a:extLst>
                  <a:ext uri="{0D108BD9-81ED-4DB2-BD59-A6C34878D82A}">
                    <a16:rowId xmlns:a16="http://schemas.microsoft.com/office/drawing/2014/main" val="4009811083"/>
                  </a:ext>
                </a:extLst>
              </a:tr>
              <a:tr h="679324">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Unit testing framework</a:t>
                      </a:r>
                    </a:p>
                  </a:txBody>
                  <a:tcPr anchor="ctr">
                    <a:lnL>
                      <a:noFill/>
                    </a:lnL>
                    <a:lnR>
                      <a:noFill/>
                    </a:lnR>
                    <a:lnT>
                      <a:noFill/>
                    </a:lnT>
                    <a:lnB>
                      <a:noFill/>
                    </a:lnB>
                  </a:tcPr>
                </a:tc>
                <a:tc>
                  <a:txBody>
                    <a:bodyPr/>
                    <a:lstStyle/>
                    <a:p>
                      <a:r>
                        <a:rPr lang="en-US" dirty="0"/>
                        <a:t>As a student, practice unit testing examples</a:t>
                      </a:r>
                    </a:p>
                  </a:txBody>
                  <a:tcPr anchor="ctr">
                    <a:lnL>
                      <a:noFill/>
                    </a:lnL>
                    <a:lnR>
                      <a:noFill/>
                    </a:lnR>
                    <a:lnT>
                      <a:noFill/>
                    </a:lnT>
                    <a:lnB>
                      <a:noFill/>
                    </a:lnB>
                  </a:tcPr>
                </a:tc>
                <a:tc>
                  <a:txBody>
                    <a:bodyPr/>
                    <a:lstStyle/>
                    <a:p>
                      <a:r>
                        <a:rPr lang="en-US" dirty="0"/>
                        <a:t>Task - Writing unit test examples</a:t>
                      </a:r>
                    </a:p>
                  </a:txBody>
                  <a:tcPr anchor="ctr">
                    <a:lnL>
                      <a:noFill/>
                    </a:lnL>
                    <a:lnR>
                      <a:noFill/>
                    </a:lnR>
                    <a:lnT>
                      <a:noFill/>
                    </a:lnT>
                    <a:lnB>
                      <a:noFill/>
                    </a:lnB>
                  </a:tcPr>
                </a:tc>
                <a:tc>
                  <a:txBody>
                    <a:bodyPr/>
                    <a:lstStyle/>
                    <a:p>
                      <a:r>
                        <a:rPr lang="en-US" dirty="0"/>
                        <a:t> </a:t>
                      </a:r>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Unit testing understood</a:t>
                      </a:r>
                    </a:p>
                  </a:txBody>
                  <a:tcPr anchor="ctr">
                    <a:lnL>
                      <a:noFill/>
                    </a:lnL>
                    <a:lnR>
                      <a:noFill/>
                    </a:lnR>
                    <a:lnT>
                      <a:noFill/>
                    </a:lnT>
                    <a:lnB>
                      <a:noFill/>
                    </a:lnB>
                  </a:tcPr>
                </a:tc>
                <a:extLst>
                  <a:ext uri="{0D108BD9-81ED-4DB2-BD59-A6C34878D82A}">
                    <a16:rowId xmlns:a16="http://schemas.microsoft.com/office/drawing/2014/main" val="3393377853"/>
                  </a:ext>
                </a:extLst>
              </a:tr>
              <a:tr h="637486">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API testing</a:t>
                      </a:r>
                    </a:p>
                  </a:txBody>
                  <a:tcPr anchor="ctr">
                    <a:lnL>
                      <a:noFill/>
                    </a:lnL>
                    <a:lnR>
                      <a:noFill/>
                    </a:lnR>
                    <a:lnT>
                      <a:noFill/>
                    </a:lnT>
                    <a:lnB>
                      <a:noFill/>
                    </a:lnB>
                  </a:tcPr>
                </a:tc>
                <a:tc>
                  <a:txBody>
                    <a:bodyPr/>
                    <a:lstStyle/>
                    <a:p>
                      <a:r>
                        <a:rPr lang="en-US" dirty="0"/>
                        <a:t>As a student, perform API testing.</a:t>
                      </a:r>
                    </a:p>
                  </a:txBody>
                  <a:tcPr anchor="ctr">
                    <a:lnL>
                      <a:noFill/>
                    </a:lnL>
                    <a:lnR>
                      <a:noFill/>
                    </a:lnR>
                    <a:lnT>
                      <a:noFill/>
                    </a:lnT>
                    <a:lnB>
                      <a:noFill/>
                    </a:lnB>
                  </a:tcPr>
                </a:tc>
                <a:tc>
                  <a:txBody>
                    <a:bodyPr/>
                    <a:lstStyle/>
                    <a:p>
                      <a:r>
                        <a:rPr lang="en-US" dirty="0"/>
                        <a:t>Task - Sending API requests</a:t>
                      </a:r>
                    </a:p>
                  </a:txBody>
                  <a:tcPr anchor="ctr">
                    <a:lnL>
                      <a:noFill/>
                    </a:lnL>
                    <a:lnR>
                      <a:noFill/>
                    </a:lnR>
                    <a:lnT>
                      <a:noFill/>
                    </a:lnT>
                    <a:lnB>
                      <a:noFill/>
                    </a:lnB>
                  </a:tcPr>
                </a:tc>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 API testing understood</a:t>
                      </a:r>
                    </a:p>
                  </a:txBody>
                  <a:tcPr anchor="ctr">
                    <a:lnL>
                      <a:noFill/>
                    </a:lnL>
                    <a:lnR>
                      <a:noFill/>
                    </a:lnR>
                    <a:lnT>
                      <a:noFill/>
                    </a:lnT>
                    <a:lnB>
                      <a:noFill/>
                    </a:lnB>
                  </a:tcPr>
                </a:tc>
                <a:extLst>
                  <a:ext uri="{0D108BD9-81ED-4DB2-BD59-A6C34878D82A}">
                    <a16:rowId xmlns:a16="http://schemas.microsoft.com/office/drawing/2014/main" val="2189329709"/>
                  </a:ext>
                </a:extLst>
              </a:tr>
              <a:tr h="637486">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Web Automation</a:t>
                      </a:r>
                    </a:p>
                  </a:txBody>
                  <a:tcPr anchor="ctr">
                    <a:lnL>
                      <a:noFill/>
                    </a:lnL>
                    <a:lnR>
                      <a:noFill/>
                    </a:lnR>
                    <a:lnT>
                      <a:noFill/>
                    </a:lnT>
                    <a:lnB>
                      <a:noFill/>
                    </a:lnB>
                  </a:tcPr>
                </a:tc>
                <a:tc>
                  <a:txBody>
                    <a:bodyPr/>
                    <a:lstStyle/>
                    <a:p>
                      <a:r>
                        <a:rPr lang="en-US" dirty="0"/>
                        <a:t>As a student, automate user interactions.</a:t>
                      </a:r>
                    </a:p>
                  </a:txBody>
                  <a:tcPr anchor="ctr">
                    <a:lnL>
                      <a:noFill/>
                    </a:lnL>
                    <a:lnR>
                      <a:noFill/>
                    </a:lnR>
                    <a:lnT>
                      <a:noFill/>
                    </a:lnT>
                    <a:lnB>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Task - Automating user interactions</a:t>
                      </a:r>
                    </a:p>
                  </a:txBody>
                  <a:tcPr>
                    <a:lnL>
                      <a:noFill/>
                    </a:lnL>
                    <a:lnT>
                      <a:noFill/>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 Web automation understood</a:t>
                      </a:r>
                    </a:p>
                  </a:txBody>
                  <a:tcPr>
                    <a:lnT>
                      <a:noFill/>
                    </a:lnT>
                  </a:tcPr>
                </a:tc>
                <a:extLst>
                  <a:ext uri="{0D108BD9-81ED-4DB2-BD59-A6C34878D82A}">
                    <a16:rowId xmlns:a16="http://schemas.microsoft.com/office/drawing/2014/main" val="390388275"/>
                  </a:ext>
                </a:extLst>
              </a:tr>
            </a:tbl>
          </a:graphicData>
        </a:graphic>
      </p:graphicFrame>
      <p:sp>
        <p:nvSpPr>
          <p:cNvPr id="10" name="Rectangle 1">
            <a:extLst>
              <a:ext uri="{FF2B5EF4-FFF2-40B4-BE49-F238E27FC236}">
                <a16:creationId xmlns:a16="http://schemas.microsoft.com/office/drawing/2014/main" id="{E22E92D4-E577-4820-8181-BFD907F21534}"/>
              </a:ext>
            </a:extLst>
          </p:cNvPr>
          <p:cNvSpPr>
            <a:spLocks noChangeArrowheads="1"/>
          </p:cNvSpPr>
          <p:nvPr/>
        </p:nvSpPr>
        <p:spPr bwMode="auto">
          <a:xfrm>
            <a:off x="148926" y="182876"/>
            <a:ext cx="11311466"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Scrum Board – Learning Sprint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 EPIC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rPr>
              <a:t>	</a:t>
            </a:r>
            <a:r>
              <a:rPr lang="en-US" altLang="en-US" sz="1400" dirty="0">
                <a:latin typeface="Arial" panose="020B0604020202020204" pitchFamily="34" charset="0"/>
              </a:rPr>
              <a:t>Understand Agile Software Engineering Practice to become Industry-Ready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      📌 SPRINT GOAL</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latin typeface="Arial" panose="020B0604020202020204" pitchFamily="34" charset="0"/>
              </a:rPr>
              <a:t>	</a:t>
            </a:r>
            <a:r>
              <a:rPr lang="en-US" altLang="en-US" sz="1400" dirty="0">
                <a:latin typeface="Arial" panose="020B0604020202020204" pitchFamily="34" charset="0"/>
              </a:rPr>
              <a:t>Learn Agile software development practice so that I can implement it in my projects.</a:t>
            </a:r>
          </a:p>
        </p:txBody>
      </p:sp>
    </p:spTree>
    <p:extLst>
      <p:ext uri="{BB962C8B-B14F-4D97-AF65-F5344CB8AC3E}">
        <p14:creationId xmlns:p14="http://schemas.microsoft.com/office/powerpoint/2010/main" val="11197679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1A19-8267-44AF-9CF6-3084271898AA}"/>
              </a:ext>
            </a:extLst>
          </p:cNvPr>
          <p:cNvSpPr>
            <a:spLocks noGrp="1"/>
          </p:cNvSpPr>
          <p:nvPr>
            <p:ph type="title"/>
          </p:nvPr>
        </p:nvSpPr>
        <p:spPr>
          <a:xfrm>
            <a:off x="281888" y="339726"/>
            <a:ext cx="6271312" cy="278342"/>
          </a:xfrm>
        </p:spPr>
        <p:txBody>
          <a:bodyPr>
            <a:noAutofit/>
          </a:bodyPr>
          <a:lstStyle/>
          <a:p>
            <a:r>
              <a:rPr lang="en-US" sz="2400" dirty="0"/>
              <a:t>Software Testing</a:t>
            </a:r>
          </a:p>
        </p:txBody>
      </p:sp>
      <p:grpSp>
        <p:nvGrpSpPr>
          <p:cNvPr id="17" name="Group 16">
            <a:extLst>
              <a:ext uri="{FF2B5EF4-FFF2-40B4-BE49-F238E27FC236}">
                <a16:creationId xmlns:a16="http://schemas.microsoft.com/office/drawing/2014/main" id="{286FEB4E-513A-4F19-BEFB-E31A04B47AAE}"/>
              </a:ext>
            </a:extLst>
          </p:cNvPr>
          <p:cNvGrpSpPr/>
          <p:nvPr/>
        </p:nvGrpSpPr>
        <p:grpSpPr>
          <a:xfrm>
            <a:off x="281888" y="338661"/>
            <a:ext cx="11212315" cy="6121275"/>
            <a:chOff x="281888" y="338661"/>
            <a:chExt cx="11212315" cy="6121275"/>
          </a:xfrm>
        </p:grpSpPr>
        <p:pic>
          <p:nvPicPr>
            <p:cNvPr id="11" name="Picture 10">
              <a:extLst>
                <a:ext uri="{FF2B5EF4-FFF2-40B4-BE49-F238E27FC236}">
                  <a16:creationId xmlns:a16="http://schemas.microsoft.com/office/drawing/2014/main" id="{F7286511-16A4-469D-8649-78F9B4DB755C}"/>
                </a:ext>
              </a:extLst>
            </p:cNvPr>
            <p:cNvPicPr>
              <a:picLocks noChangeAspect="1"/>
            </p:cNvPicPr>
            <p:nvPr/>
          </p:nvPicPr>
          <p:blipFill>
            <a:blip r:embed="rId2"/>
            <a:stretch>
              <a:fillRect/>
            </a:stretch>
          </p:blipFill>
          <p:spPr>
            <a:xfrm>
              <a:off x="281888" y="872066"/>
              <a:ext cx="5964344" cy="4066973"/>
            </a:xfrm>
            <a:prstGeom prst="rect">
              <a:avLst/>
            </a:prstGeom>
          </p:spPr>
        </p:pic>
        <p:pic>
          <p:nvPicPr>
            <p:cNvPr id="13" name="Picture 12">
              <a:extLst>
                <a:ext uri="{FF2B5EF4-FFF2-40B4-BE49-F238E27FC236}">
                  <a16:creationId xmlns:a16="http://schemas.microsoft.com/office/drawing/2014/main" id="{07E8A510-6561-4B46-9A6E-601CBABC02B6}"/>
                </a:ext>
              </a:extLst>
            </p:cNvPr>
            <p:cNvPicPr>
              <a:picLocks noChangeAspect="1"/>
            </p:cNvPicPr>
            <p:nvPr/>
          </p:nvPicPr>
          <p:blipFill>
            <a:blip r:embed="rId3"/>
            <a:stretch>
              <a:fillRect/>
            </a:stretch>
          </p:blipFill>
          <p:spPr>
            <a:xfrm>
              <a:off x="7062416" y="338661"/>
              <a:ext cx="4431787" cy="2387844"/>
            </a:xfrm>
            <a:prstGeom prst="rect">
              <a:avLst/>
            </a:prstGeom>
          </p:spPr>
        </p:pic>
        <p:pic>
          <p:nvPicPr>
            <p:cNvPr id="16" name="Picture 15">
              <a:extLst>
                <a:ext uri="{FF2B5EF4-FFF2-40B4-BE49-F238E27FC236}">
                  <a16:creationId xmlns:a16="http://schemas.microsoft.com/office/drawing/2014/main" id="{8CC703BD-FF0F-4534-BD46-F5D6D059912D}"/>
                </a:ext>
              </a:extLst>
            </p:cNvPr>
            <p:cNvPicPr>
              <a:picLocks noChangeAspect="1"/>
            </p:cNvPicPr>
            <p:nvPr/>
          </p:nvPicPr>
          <p:blipFill>
            <a:blip r:embed="rId4"/>
            <a:stretch>
              <a:fillRect/>
            </a:stretch>
          </p:blipFill>
          <p:spPr>
            <a:xfrm>
              <a:off x="7062416" y="3021788"/>
              <a:ext cx="3122984" cy="3438148"/>
            </a:xfrm>
            <a:prstGeom prst="rect">
              <a:avLst/>
            </a:prstGeom>
          </p:spPr>
        </p:pic>
      </p:grpSp>
    </p:spTree>
    <p:extLst>
      <p:ext uri="{BB962C8B-B14F-4D97-AF65-F5344CB8AC3E}">
        <p14:creationId xmlns:p14="http://schemas.microsoft.com/office/powerpoint/2010/main" val="1146057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1A19-8267-44AF-9CF6-3084271898AA}"/>
              </a:ext>
            </a:extLst>
          </p:cNvPr>
          <p:cNvSpPr>
            <a:spLocks noGrp="1"/>
          </p:cNvSpPr>
          <p:nvPr>
            <p:ph type="title"/>
          </p:nvPr>
        </p:nvSpPr>
        <p:spPr>
          <a:xfrm>
            <a:off x="685800" y="322793"/>
            <a:ext cx="10515600" cy="278342"/>
          </a:xfrm>
        </p:spPr>
        <p:txBody>
          <a:bodyPr>
            <a:noAutofit/>
          </a:bodyPr>
          <a:lstStyle/>
          <a:p>
            <a:r>
              <a:rPr lang="en-US" sz="2400" dirty="0"/>
              <a:t>Software Testing Types</a:t>
            </a:r>
          </a:p>
        </p:txBody>
      </p:sp>
      <p:pic>
        <p:nvPicPr>
          <p:cNvPr id="9" name="Picture 8">
            <a:extLst>
              <a:ext uri="{FF2B5EF4-FFF2-40B4-BE49-F238E27FC236}">
                <a16:creationId xmlns:a16="http://schemas.microsoft.com/office/drawing/2014/main" id="{AEED23A4-5BB9-4EEB-8B6E-75B642CAD65A}"/>
              </a:ext>
            </a:extLst>
          </p:cNvPr>
          <p:cNvPicPr>
            <a:picLocks noChangeAspect="1"/>
          </p:cNvPicPr>
          <p:nvPr/>
        </p:nvPicPr>
        <p:blipFill>
          <a:blip r:embed="rId2"/>
          <a:stretch>
            <a:fillRect/>
          </a:stretch>
        </p:blipFill>
        <p:spPr>
          <a:xfrm>
            <a:off x="835548" y="713975"/>
            <a:ext cx="7659169" cy="5734850"/>
          </a:xfrm>
          <a:prstGeom prst="rect">
            <a:avLst/>
          </a:prstGeom>
        </p:spPr>
      </p:pic>
    </p:spTree>
    <p:extLst>
      <p:ext uri="{BB962C8B-B14F-4D97-AF65-F5344CB8AC3E}">
        <p14:creationId xmlns:p14="http://schemas.microsoft.com/office/powerpoint/2010/main" val="2329942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1A19-8267-44AF-9CF6-3084271898AA}"/>
              </a:ext>
            </a:extLst>
          </p:cNvPr>
          <p:cNvSpPr>
            <a:spLocks noGrp="1"/>
          </p:cNvSpPr>
          <p:nvPr>
            <p:ph type="title"/>
          </p:nvPr>
        </p:nvSpPr>
        <p:spPr>
          <a:xfrm>
            <a:off x="685800" y="322793"/>
            <a:ext cx="10515600" cy="278342"/>
          </a:xfrm>
        </p:spPr>
        <p:txBody>
          <a:bodyPr>
            <a:noAutofit/>
          </a:bodyPr>
          <a:lstStyle/>
          <a:p>
            <a:r>
              <a:rPr lang="en-US" sz="2400" dirty="0"/>
              <a:t>Software Testing Types</a:t>
            </a:r>
          </a:p>
        </p:txBody>
      </p:sp>
      <p:grpSp>
        <p:nvGrpSpPr>
          <p:cNvPr id="12" name="Group 11">
            <a:extLst>
              <a:ext uri="{FF2B5EF4-FFF2-40B4-BE49-F238E27FC236}">
                <a16:creationId xmlns:a16="http://schemas.microsoft.com/office/drawing/2014/main" id="{3C23A28A-92EA-4409-805E-C9DAD959C2AE}"/>
              </a:ext>
            </a:extLst>
          </p:cNvPr>
          <p:cNvGrpSpPr/>
          <p:nvPr/>
        </p:nvGrpSpPr>
        <p:grpSpPr>
          <a:xfrm>
            <a:off x="218927" y="892074"/>
            <a:ext cx="11575287" cy="5480634"/>
            <a:chOff x="218927" y="892074"/>
            <a:chExt cx="11575287" cy="5480634"/>
          </a:xfrm>
        </p:grpSpPr>
        <p:pic>
          <p:nvPicPr>
            <p:cNvPr id="4" name="Picture 3">
              <a:extLst>
                <a:ext uri="{FF2B5EF4-FFF2-40B4-BE49-F238E27FC236}">
                  <a16:creationId xmlns:a16="http://schemas.microsoft.com/office/drawing/2014/main" id="{44D7EDDD-43BA-44C3-8337-2B7441083A55}"/>
                </a:ext>
              </a:extLst>
            </p:cNvPr>
            <p:cNvPicPr>
              <a:picLocks noChangeAspect="1"/>
            </p:cNvPicPr>
            <p:nvPr/>
          </p:nvPicPr>
          <p:blipFill>
            <a:blip r:embed="rId2"/>
            <a:stretch>
              <a:fillRect/>
            </a:stretch>
          </p:blipFill>
          <p:spPr>
            <a:xfrm>
              <a:off x="218927" y="892074"/>
              <a:ext cx="7655064" cy="5480634"/>
            </a:xfrm>
            <a:prstGeom prst="rect">
              <a:avLst/>
            </a:prstGeom>
          </p:spPr>
        </p:pic>
        <p:pic>
          <p:nvPicPr>
            <p:cNvPr id="11" name="Picture 10">
              <a:extLst>
                <a:ext uri="{FF2B5EF4-FFF2-40B4-BE49-F238E27FC236}">
                  <a16:creationId xmlns:a16="http://schemas.microsoft.com/office/drawing/2014/main" id="{0BA49BF9-183E-4168-9AAE-D85767894252}"/>
                </a:ext>
              </a:extLst>
            </p:cNvPr>
            <p:cNvPicPr>
              <a:picLocks noChangeAspect="1"/>
            </p:cNvPicPr>
            <p:nvPr/>
          </p:nvPicPr>
          <p:blipFill>
            <a:blip r:embed="rId3"/>
            <a:stretch>
              <a:fillRect/>
            </a:stretch>
          </p:blipFill>
          <p:spPr>
            <a:xfrm>
              <a:off x="7391391" y="2683934"/>
              <a:ext cx="4402823" cy="1709901"/>
            </a:xfrm>
            <a:prstGeom prst="rect">
              <a:avLst/>
            </a:prstGeom>
          </p:spPr>
        </p:pic>
      </p:grpSp>
    </p:spTree>
    <p:extLst>
      <p:ext uri="{BB962C8B-B14F-4D97-AF65-F5344CB8AC3E}">
        <p14:creationId xmlns:p14="http://schemas.microsoft.com/office/powerpoint/2010/main" val="1490113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1A19-8267-44AF-9CF6-3084271898AA}"/>
              </a:ext>
            </a:extLst>
          </p:cNvPr>
          <p:cNvSpPr>
            <a:spLocks noGrp="1"/>
          </p:cNvSpPr>
          <p:nvPr>
            <p:ph type="title"/>
          </p:nvPr>
        </p:nvSpPr>
        <p:spPr>
          <a:xfrm>
            <a:off x="152399" y="398993"/>
            <a:ext cx="10515600" cy="278342"/>
          </a:xfrm>
        </p:spPr>
        <p:txBody>
          <a:bodyPr>
            <a:noAutofit/>
          </a:bodyPr>
          <a:lstStyle/>
          <a:p>
            <a:r>
              <a:rPr lang="en-US" sz="2400" dirty="0"/>
              <a:t>Software Testing Types</a:t>
            </a:r>
          </a:p>
        </p:txBody>
      </p:sp>
      <p:grpSp>
        <p:nvGrpSpPr>
          <p:cNvPr id="11" name="Group 10">
            <a:extLst>
              <a:ext uri="{FF2B5EF4-FFF2-40B4-BE49-F238E27FC236}">
                <a16:creationId xmlns:a16="http://schemas.microsoft.com/office/drawing/2014/main" id="{3496D23E-3D29-47DF-80C8-0786D27BEF14}"/>
              </a:ext>
            </a:extLst>
          </p:cNvPr>
          <p:cNvGrpSpPr/>
          <p:nvPr/>
        </p:nvGrpSpPr>
        <p:grpSpPr>
          <a:xfrm>
            <a:off x="152399" y="1095462"/>
            <a:ext cx="11771644" cy="5439745"/>
            <a:chOff x="152399" y="1095462"/>
            <a:chExt cx="11771644" cy="5439745"/>
          </a:xfrm>
        </p:grpSpPr>
        <p:grpSp>
          <p:nvGrpSpPr>
            <p:cNvPr id="8" name="Group 7">
              <a:extLst>
                <a:ext uri="{FF2B5EF4-FFF2-40B4-BE49-F238E27FC236}">
                  <a16:creationId xmlns:a16="http://schemas.microsoft.com/office/drawing/2014/main" id="{9C46D856-DE3A-40D9-AFCF-34C37476F715}"/>
                </a:ext>
              </a:extLst>
            </p:cNvPr>
            <p:cNvGrpSpPr/>
            <p:nvPr/>
          </p:nvGrpSpPr>
          <p:grpSpPr>
            <a:xfrm>
              <a:off x="152399" y="1095462"/>
              <a:ext cx="11771644" cy="5439745"/>
              <a:chOff x="152399" y="1095462"/>
              <a:chExt cx="11771644" cy="5439745"/>
            </a:xfrm>
          </p:grpSpPr>
          <p:pic>
            <p:nvPicPr>
              <p:cNvPr id="5" name="Picture 4">
                <a:extLst>
                  <a:ext uri="{FF2B5EF4-FFF2-40B4-BE49-F238E27FC236}">
                    <a16:creationId xmlns:a16="http://schemas.microsoft.com/office/drawing/2014/main" id="{9E821292-2F01-43CB-B38D-91EEA2D9EDD3}"/>
                  </a:ext>
                </a:extLst>
              </p:cNvPr>
              <p:cNvPicPr>
                <a:picLocks noChangeAspect="1"/>
              </p:cNvPicPr>
              <p:nvPr/>
            </p:nvPicPr>
            <p:blipFill>
              <a:blip r:embed="rId2"/>
              <a:stretch>
                <a:fillRect/>
              </a:stretch>
            </p:blipFill>
            <p:spPr>
              <a:xfrm>
                <a:off x="152399" y="1095462"/>
                <a:ext cx="7173387" cy="5439745"/>
              </a:xfrm>
              <a:prstGeom prst="rect">
                <a:avLst/>
              </a:prstGeom>
            </p:spPr>
          </p:pic>
          <p:pic>
            <p:nvPicPr>
              <p:cNvPr id="7" name="Picture 6">
                <a:extLst>
                  <a:ext uri="{FF2B5EF4-FFF2-40B4-BE49-F238E27FC236}">
                    <a16:creationId xmlns:a16="http://schemas.microsoft.com/office/drawing/2014/main" id="{8FD9F9CB-0A01-4A63-8C34-83AB6C9B4197}"/>
                  </a:ext>
                </a:extLst>
              </p:cNvPr>
              <p:cNvPicPr>
                <a:picLocks noChangeAspect="1"/>
              </p:cNvPicPr>
              <p:nvPr/>
            </p:nvPicPr>
            <p:blipFill>
              <a:blip r:embed="rId3"/>
              <a:stretch>
                <a:fillRect/>
              </a:stretch>
            </p:blipFill>
            <p:spPr>
              <a:xfrm>
                <a:off x="7117883" y="3775075"/>
                <a:ext cx="4806160" cy="1972734"/>
              </a:xfrm>
              <a:prstGeom prst="rect">
                <a:avLst/>
              </a:prstGeom>
            </p:spPr>
          </p:pic>
        </p:grpSp>
        <p:pic>
          <p:nvPicPr>
            <p:cNvPr id="10" name="Picture 9">
              <a:extLst>
                <a:ext uri="{FF2B5EF4-FFF2-40B4-BE49-F238E27FC236}">
                  <a16:creationId xmlns:a16="http://schemas.microsoft.com/office/drawing/2014/main" id="{15054F11-E84E-4E59-A5D2-75F4FD513570}"/>
                </a:ext>
              </a:extLst>
            </p:cNvPr>
            <p:cNvPicPr>
              <a:picLocks noChangeAspect="1"/>
            </p:cNvPicPr>
            <p:nvPr/>
          </p:nvPicPr>
          <p:blipFill>
            <a:blip r:embed="rId4"/>
            <a:stretch>
              <a:fillRect/>
            </a:stretch>
          </p:blipFill>
          <p:spPr>
            <a:xfrm>
              <a:off x="8478404" y="1269999"/>
              <a:ext cx="1146510" cy="1599521"/>
            </a:xfrm>
            <a:prstGeom prst="rect">
              <a:avLst/>
            </a:prstGeom>
          </p:spPr>
        </p:pic>
      </p:grpSp>
    </p:spTree>
    <p:extLst>
      <p:ext uri="{BB962C8B-B14F-4D97-AF65-F5344CB8AC3E}">
        <p14:creationId xmlns:p14="http://schemas.microsoft.com/office/powerpoint/2010/main" val="1075680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1A19-8267-44AF-9CF6-3084271898AA}"/>
              </a:ext>
            </a:extLst>
          </p:cNvPr>
          <p:cNvSpPr>
            <a:spLocks noGrp="1"/>
          </p:cNvSpPr>
          <p:nvPr>
            <p:ph type="title"/>
          </p:nvPr>
        </p:nvSpPr>
        <p:spPr>
          <a:xfrm>
            <a:off x="685800" y="322793"/>
            <a:ext cx="10515600" cy="278342"/>
          </a:xfrm>
        </p:spPr>
        <p:txBody>
          <a:bodyPr>
            <a:noAutofit/>
          </a:bodyPr>
          <a:lstStyle/>
          <a:p>
            <a:r>
              <a:rPr lang="en-US" sz="2400" dirty="0"/>
              <a:t>Software Testing Types</a:t>
            </a:r>
          </a:p>
        </p:txBody>
      </p:sp>
      <p:pic>
        <p:nvPicPr>
          <p:cNvPr id="4" name="Picture 3">
            <a:extLst>
              <a:ext uri="{FF2B5EF4-FFF2-40B4-BE49-F238E27FC236}">
                <a16:creationId xmlns:a16="http://schemas.microsoft.com/office/drawing/2014/main" id="{7F56EC93-B438-430E-92A7-F71762730048}"/>
              </a:ext>
            </a:extLst>
          </p:cNvPr>
          <p:cNvPicPr>
            <a:picLocks noChangeAspect="1"/>
          </p:cNvPicPr>
          <p:nvPr/>
        </p:nvPicPr>
        <p:blipFill>
          <a:blip r:embed="rId2"/>
          <a:stretch>
            <a:fillRect/>
          </a:stretch>
        </p:blipFill>
        <p:spPr>
          <a:xfrm>
            <a:off x="773617" y="601135"/>
            <a:ext cx="7935432" cy="5744377"/>
          </a:xfrm>
          <a:prstGeom prst="rect">
            <a:avLst/>
          </a:prstGeom>
        </p:spPr>
      </p:pic>
    </p:spTree>
    <p:extLst>
      <p:ext uri="{BB962C8B-B14F-4D97-AF65-F5344CB8AC3E}">
        <p14:creationId xmlns:p14="http://schemas.microsoft.com/office/powerpoint/2010/main" val="23297912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1A19-8267-44AF-9CF6-3084271898AA}"/>
              </a:ext>
            </a:extLst>
          </p:cNvPr>
          <p:cNvSpPr>
            <a:spLocks noGrp="1"/>
          </p:cNvSpPr>
          <p:nvPr>
            <p:ph type="title"/>
          </p:nvPr>
        </p:nvSpPr>
        <p:spPr>
          <a:xfrm>
            <a:off x="685800" y="322793"/>
            <a:ext cx="10515600" cy="278342"/>
          </a:xfrm>
        </p:spPr>
        <p:txBody>
          <a:bodyPr>
            <a:noAutofit/>
          </a:bodyPr>
          <a:lstStyle/>
          <a:p>
            <a:r>
              <a:rPr lang="en-US" sz="2400" dirty="0"/>
              <a:t>Software Testing Types</a:t>
            </a:r>
          </a:p>
        </p:txBody>
      </p:sp>
      <p:pic>
        <p:nvPicPr>
          <p:cNvPr id="5" name="Picture 4">
            <a:extLst>
              <a:ext uri="{FF2B5EF4-FFF2-40B4-BE49-F238E27FC236}">
                <a16:creationId xmlns:a16="http://schemas.microsoft.com/office/drawing/2014/main" id="{A94455C7-2E5B-4FEB-A369-FA7BEBC82FB6}"/>
              </a:ext>
            </a:extLst>
          </p:cNvPr>
          <p:cNvPicPr>
            <a:picLocks noChangeAspect="1"/>
          </p:cNvPicPr>
          <p:nvPr/>
        </p:nvPicPr>
        <p:blipFill>
          <a:blip r:embed="rId2"/>
          <a:stretch>
            <a:fillRect/>
          </a:stretch>
        </p:blipFill>
        <p:spPr>
          <a:xfrm>
            <a:off x="685800" y="731957"/>
            <a:ext cx="7944959" cy="5868219"/>
          </a:xfrm>
          <a:prstGeom prst="rect">
            <a:avLst/>
          </a:prstGeom>
        </p:spPr>
      </p:pic>
    </p:spTree>
    <p:extLst>
      <p:ext uri="{BB962C8B-B14F-4D97-AF65-F5344CB8AC3E}">
        <p14:creationId xmlns:p14="http://schemas.microsoft.com/office/powerpoint/2010/main" val="21428948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F1A19-8267-44AF-9CF6-3084271898AA}"/>
              </a:ext>
            </a:extLst>
          </p:cNvPr>
          <p:cNvSpPr>
            <a:spLocks noGrp="1"/>
          </p:cNvSpPr>
          <p:nvPr>
            <p:ph type="title"/>
          </p:nvPr>
        </p:nvSpPr>
        <p:spPr>
          <a:xfrm>
            <a:off x="685800" y="322793"/>
            <a:ext cx="10515600" cy="278342"/>
          </a:xfrm>
        </p:spPr>
        <p:txBody>
          <a:bodyPr>
            <a:noAutofit/>
          </a:bodyPr>
          <a:lstStyle/>
          <a:p>
            <a:r>
              <a:rPr lang="en-US" sz="2400" dirty="0"/>
              <a:t>Software Testing Types</a:t>
            </a:r>
          </a:p>
        </p:txBody>
      </p:sp>
      <p:grpSp>
        <p:nvGrpSpPr>
          <p:cNvPr id="8" name="Group 7">
            <a:extLst>
              <a:ext uri="{FF2B5EF4-FFF2-40B4-BE49-F238E27FC236}">
                <a16:creationId xmlns:a16="http://schemas.microsoft.com/office/drawing/2014/main" id="{AF11CD50-FB14-4D45-9181-554A3F6E9C43}"/>
              </a:ext>
            </a:extLst>
          </p:cNvPr>
          <p:cNvGrpSpPr/>
          <p:nvPr/>
        </p:nvGrpSpPr>
        <p:grpSpPr>
          <a:xfrm>
            <a:off x="754188" y="601135"/>
            <a:ext cx="9153063" cy="5863696"/>
            <a:chOff x="754188" y="601135"/>
            <a:chExt cx="9153063" cy="5863696"/>
          </a:xfrm>
        </p:grpSpPr>
        <p:pic>
          <p:nvPicPr>
            <p:cNvPr id="4" name="Picture 3">
              <a:extLst>
                <a:ext uri="{FF2B5EF4-FFF2-40B4-BE49-F238E27FC236}">
                  <a16:creationId xmlns:a16="http://schemas.microsoft.com/office/drawing/2014/main" id="{01E174C9-382A-4725-A3CE-40C2BB6D8131}"/>
                </a:ext>
              </a:extLst>
            </p:cNvPr>
            <p:cNvPicPr>
              <a:picLocks noChangeAspect="1"/>
            </p:cNvPicPr>
            <p:nvPr/>
          </p:nvPicPr>
          <p:blipFill>
            <a:blip r:embed="rId2"/>
            <a:stretch>
              <a:fillRect/>
            </a:stretch>
          </p:blipFill>
          <p:spPr>
            <a:xfrm>
              <a:off x="754188" y="601135"/>
              <a:ext cx="5544781" cy="5863696"/>
            </a:xfrm>
            <a:prstGeom prst="rect">
              <a:avLst/>
            </a:prstGeom>
          </p:spPr>
        </p:pic>
        <p:pic>
          <p:nvPicPr>
            <p:cNvPr id="7" name="Picture 6">
              <a:extLst>
                <a:ext uri="{FF2B5EF4-FFF2-40B4-BE49-F238E27FC236}">
                  <a16:creationId xmlns:a16="http://schemas.microsoft.com/office/drawing/2014/main" id="{C210E553-0971-43E3-A712-92FB08079A76}"/>
                </a:ext>
              </a:extLst>
            </p:cNvPr>
            <p:cNvPicPr>
              <a:picLocks noChangeAspect="1"/>
            </p:cNvPicPr>
            <p:nvPr/>
          </p:nvPicPr>
          <p:blipFill>
            <a:blip r:embed="rId3"/>
            <a:stretch>
              <a:fillRect/>
            </a:stretch>
          </p:blipFill>
          <p:spPr>
            <a:xfrm>
              <a:off x="7144615" y="707840"/>
              <a:ext cx="2762636" cy="2648320"/>
            </a:xfrm>
            <a:prstGeom prst="rect">
              <a:avLst/>
            </a:prstGeom>
          </p:spPr>
        </p:pic>
      </p:grpSp>
    </p:spTree>
    <p:extLst>
      <p:ext uri="{BB962C8B-B14F-4D97-AF65-F5344CB8AC3E}">
        <p14:creationId xmlns:p14="http://schemas.microsoft.com/office/powerpoint/2010/main" val="854564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EF80EBE7-9511-4376-A9D8-EF45488FC796}"/>
              </a:ext>
            </a:extLst>
          </p:cNvPr>
          <p:cNvGraphicFramePr>
            <a:graphicFrameLocks noGrp="1"/>
          </p:cNvGraphicFramePr>
          <p:nvPr>
            <p:ph sz="half" idx="1"/>
            <p:extLst>
              <p:ext uri="{D42A27DB-BD31-4B8C-83A1-F6EECF244321}">
                <p14:modId xmlns:p14="http://schemas.microsoft.com/office/powerpoint/2010/main" val="2932388106"/>
              </p:ext>
            </p:extLst>
          </p:nvPr>
        </p:nvGraphicFramePr>
        <p:xfrm>
          <a:off x="177801" y="1838425"/>
          <a:ext cx="11815276" cy="4637536"/>
        </p:xfrm>
        <a:graphic>
          <a:graphicData uri="http://schemas.openxmlformats.org/drawingml/2006/table">
            <a:tbl>
              <a:tblPr/>
              <a:tblGrid>
                <a:gridCol w="3345044">
                  <a:extLst>
                    <a:ext uri="{9D8B030D-6E8A-4147-A177-3AD203B41FA5}">
                      <a16:colId xmlns:a16="http://schemas.microsoft.com/office/drawing/2014/main" val="390710867"/>
                    </a:ext>
                  </a:extLst>
                </a:gridCol>
                <a:gridCol w="2608447">
                  <a:extLst>
                    <a:ext uri="{9D8B030D-6E8A-4147-A177-3AD203B41FA5}">
                      <a16:colId xmlns:a16="http://schemas.microsoft.com/office/drawing/2014/main" val="3032356321"/>
                    </a:ext>
                  </a:extLst>
                </a:gridCol>
                <a:gridCol w="2531444">
                  <a:extLst>
                    <a:ext uri="{9D8B030D-6E8A-4147-A177-3AD203B41FA5}">
                      <a16:colId xmlns:a16="http://schemas.microsoft.com/office/drawing/2014/main" val="2819096032"/>
                    </a:ext>
                  </a:extLst>
                </a:gridCol>
                <a:gridCol w="3330341">
                  <a:extLst>
                    <a:ext uri="{9D8B030D-6E8A-4147-A177-3AD203B41FA5}">
                      <a16:colId xmlns:a16="http://schemas.microsoft.com/office/drawing/2014/main" val="4200612597"/>
                    </a:ext>
                  </a:extLst>
                </a:gridCol>
              </a:tblGrid>
              <a:tr h="637486">
                <a:tc>
                  <a:txBody>
                    <a:bodyPr/>
                    <a:lstStyle/>
                    <a:p>
                      <a:r>
                        <a:rPr lang="en-US" dirty="0"/>
                        <a:t>📝 Product Backlog</a:t>
                      </a:r>
                    </a:p>
                  </a:txBody>
                  <a:tcPr anchor="ctr">
                    <a:lnL>
                      <a:noFill/>
                    </a:lnL>
                    <a:lnR>
                      <a:noFill/>
                    </a:lnR>
                    <a:lnT>
                      <a:noFill/>
                    </a:lnT>
                    <a:lnB>
                      <a:noFill/>
                    </a:lnB>
                  </a:tcPr>
                </a:tc>
                <a:tc>
                  <a:txBody>
                    <a:bodyPr/>
                    <a:lstStyle/>
                    <a:p>
                      <a:r>
                        <a:rPr lang="en-US" dirty="0"/>
                        <a:t>🚀 Sprint Backlog(User Story)</a:t>
                      </a:r>
                    </a:p>
                  </a:txBody>
                  <a:tcPr anchor="ctr">
                    <a:lnL>
                      <a:noFill/>
                    </a:lnL>
                    <a:lnR>
                      <a:noFill/>
                    </a:lnR>
                    <a:lnT>
                      <a:noFill/>
                    </a:lnT>
                    <a:lnB>
                      <a:noFill/>
                    </a:lnB>
                  </a:tcPr>
                </a:tc>
                <a:tc>
                  <a:txBody>
                    <a:bodyPr/>
                    <a:lstStyle/>
                    <a:p>
                      <a:r>
                        <a:rPr lang="en-US" dirty="0"/>
                        <a:t>🔄 In Progress (Tasks)</a:t>
                      </a:r>
                    </a:p>
                  </a:txBody>
                  <a:tcPr anchor="ctr">
                    <a:lnL>
                      <a:noFill/>
                    </a:lnL>
                    <a:lnR>
                      <a:noFill/>
                    </a:lnR>
                    <a:lnT>
                      <a:noFill/>
                    </a:lnT>
                    <a:lnB>
                      <a:noFill/>
                    </a:lnB>
                  </a:tcPr>
                </a:tc>
                <a:tc>
                  <a:txBody>
                    <a:bodyPr/>
                    <a:lstStyle/>
                    <a:p>
                      <a:r>
                        <a:rPr lang="en-US" dirty="0"/>
                        <a:t>✅ Done</a:t>
                      </a:r>
                    </a:p>
                  </a:txBody>
                  <a:tcPr anchor="ctr">
                    <a:lnL>
                      <a:noFill/>
                    </a:lnL>
                    <a:lnR>
                      <a:noFill/>
                    </a:lnR>
                    <a:lnT>
                      <a:noFill/>
                    </a:lnT>
                    <a:lnB>
                      <a:noFill/>
                    </a:lnB>
                  </a:tcPr>
                </a:tc>
                <a:extLst>
                  <a:ext uri="{0D108BD9-81ED-4DB2-BD59-A6C34878D82A}">
                    <a16:rowId xmlns:a16="http://schemas.microsoft.com/office/drawing/2014/main" val="814747685"/>
                  </a:ext>
                </a:extLst>
              </a:tr>
              <a:tr h="679324">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how Agile works</a:t>
                      </a:r>
                    </a:p>
                  </a:txBody>
                  <a:tcPr anchor="ctr">
                    <a:lnL>
                      <a:noFill/>
                    </a:lnL>
                    <a:lnR>
                      <a:noFill/>
                    </a:lnR>
                    <a:lnT>
                      <a:noFill/>
                    </a:lnT>
                    <a:lnB>
                      <a:noFill/>
                    </a:lnB>
                  </a:tcPr>
                </a:tc>
                <a:tc>
                  <a:txBody>
                    <a:bodyPr/>
                    <a:lstStyle/>
                    <a:p>
                      <a:r>
                        <a:rPr lang="en-US" dirty="0"/>
                        <a:t>As a student, study Agile process</a:t>
                      </a:r>
                    </a:p>
                  </a:txBody>
                  <a:tcPr anchor="ctr">
                    <a:lnL>
                      <a:noFill/>
                    </a:lnL>
                    <a:lnR>
                      <a:noFill/>
                    </a:lnR>
                    <a:lnT>
                      <a:noFill/>
                    </a:lnT>
                    <a:lnB>
                      <a:noFill/>
                    </a:lnB>
                  </a:tcPr>
                </a:tc>
                <a:tc>
                  <a:txBody>
                    <a:bodyPr/>
                    <a:lstStyle/>
                    <a:p>
                      <a:r>
                        <a:rPr lang="en-US" dirty="0"/>
                        <a:t>Task - Understanding Agile process</a:t>
                      </a:r>
                    </a:p>
                  </a:txBody>
                  <a:tcPr anchor="ctr">
                    <a:lnL>
                      <a:noFill/>
                    </a:lnL>
                    <a:lnR>
                      <a:noFill/>
                    </a:lnR>
                    <a:lnT>
                      <a:noFill/>
                    </a:lnT>
                    <a:lnB>
                      <a:noFill/>
                    </a:lnB>
                  </a:tcPr>
                </a:tc>
                <a:tc>
                  <a:txBody>
                    <a:bodyPr/>
                    <a:lstStyle/>
                    <a:p>
                      <a:r>
                        <a:rPr lang="en-US" dirty="0"/>
                        <a:t>✔ Agile process understood</a:t>
                      </a:r>
                    </a:p>
                  </a:txBody>
                  <a:tcPr anchor="ctr">
                    <a:lnL>
                      <a:noFill/>
                    </a:lnL>
                    <a:lnR>
                      <a:noFill/>
                    </a:lnR>
                    <a:lnT>
                      <a:noFill/>
                    </a:lnT>
                    <a:lnB>
                      <a:noFill/>
                    </a:lnB>
                  </a:tcPr>
                </a:tc>
                <a:extLst>
                  <a:ext uri="{0D108BD9-81ED-4DB2-BD59-A6C34878D82A}">
                    <a16:rowId xmlns:a16="http://schemas.microsoft.com/office/drawing/2014/main" val="3142898237"/>
                  </a:ext>
                </a:extLst>
              </a:tr>
              <a:tr h="679324">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Agile way of testing</a:t>
                      </a:r>
                    </a:p>
                  </a:txBody>
                  <a:tcPr anchor="ctr">
                    <a:lnL>
                      <a:noFill/>
                    </a:lnL>
                    <a:lnR>
                      <a:noFill/>
                    </a:lnR>
                    <a:lnT>
                      <a:noFill/>
                    </a:lnT>
                    <a:lnB>
                      <a:noFill/>
                    </a:lnB>
                  </a:tcPr>
                </a:tc>
                <a:tc>
                  <a:txBody>
                    <a:bodyPr/>
                    <a:lstStyle/>
                    <a:p>
                      <a:r>
                        <a:rPr lang="en-US" dirty="0"/>
                        <a:t>As a student, learn Agile testing</a:t>
                      </a:r>
                    </a:p>
                  </a:txBody>
                  <a:tcPr anchor="ctr">
                    <a:lnL>
                      <a:noFill/>
                    </a:lnL>
                    <a:lnR>
                      <a:noFill/>
                    </a:lnR>
                    <a:lnT>
                      <a:noFill/>
                    </a:lnT>
                    <a:lnB>
                      <a:noFill/>
                    </a:lnB>
                  </a:tcPr>
                </a:tc>
                <a:tc>
                  <a:txBody>
                    <a:bodyPr/>
                    <a:lstStyle/>
                    <a:p>
                      <a:r>
                        <a:rPr lang="en-US" dirty="0"/>
                        <a:t>Task - Understanding Agile Testing</a:t>
                      </a:r>
                    </a:p>
                  </a:txBody>
                  <a:tcPr anchor="ctr">
                    <a:lnL>
                      <a:noFill/>
                    </a:lnL>
                    <a:lnR>
                      <a:noFill/>
                    </a:lnR>
                    <a:lnT>
                      <a:noFill/>
                    </a:lnT>
                    <a:lnB>
                      <a:noFill/>
                    </a:lnB>
                  </a:tcPr>
                </a:tc>
                <a:tc>
                  <a:txBody>
                    <a:bodyPr/>
                    <a:lstStyle/>
                    <a:p>
                      <a:r>
                        <a:rPr lang="en-US" dirty="0"/>
                        <a:t>✔ Agile Testing understood</a:t>
                      </a:r>
                    </a:p>
                  </a:txBody>
                  <a:tcPr anchor="ctr">
                    <a:lnL>
                      <a:noFill/>
                    </a:lnL>
                    <a:lnR>
                      <a:noFill/>
                    </a:lnR>
                    <a:lnT>
                      <a:noFill/>
                    </a:lnT>
                    <a:lnB>
                      <a:noFill/>
                    </a:lnB>
                  </a:tcPr>
                </a:tc>
                <a:extLst>
                  <a:ext uri="{0D108BD9-81ED-4DB2-BD59-A6C34878D82A}">
                    <a16:rowId xmlns:a16="http://schemas.microsoft.com/office/drawing/2014/main" val="905822386"/>
                  </a:ext>
                </a:extLst>
              </a:tr>
              <a:tr h="679324">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Software Testing types</a:t>
                      </a:r>
                    </a:p>
                  </a:txBody>
                  <a:tcPr anchor="ctr">
                    <a:lnL>
                      <a:noFill/>
                    </a:lnL>
                    <a:lnR>
                      <a:noFill/>
                    </a:lnR>
                    <a:lnT>
                      <a:noFill/>
                    </a:lnT>
                    <a:lnB>
                      <a:noFill/>
                    </a:lnB>
                  </a:tcPr>
                </a:tc>
                <a:tc>
                  <a:txBody>
                    <a:bodyPr/>
                    <a:lstStyle/>
                    <a:p>
                      <a:r>
                        <a:rPr lang="en-US" dirty="0"/>
                        <a:t>As a student, understand Software Testing types</a:t>
                      </a:r>
                    </a:p>
                  </a:txBody>
                  <a:tcPr anchor="ctr">
                    <a:lnL>
                      <a:noFill/>
                    </a:lnL>
                    <a:lnR>
                      <a:noFill/>
                    </a:lnR>
                    <a:lnT>
                      <a:noFill/>
                    </a:lnT>
                    <a:lnB>
                      <a:noFill/>
                    </a:lnB>
                  </a:tcPr>
                </a:tc>
                <a:tc>
                  <a:txBody>
                    <a:bodyPr/>
                    <a:lstStyle/>
                    <a:p>
                      <a:r>
                        <a:rPr lang="en-US" dirty="0"/>
                        <a:t>Task - Understanding Software Testing types</a:t>
                      </a:r>
                    </a:p>
                  </a:txBody>
                  <a:tcPr anchor="ctr">
                    <a:lnL>
                      <a:noFill/>
                    </a:lnL>
                    <a:lnR>
                      <a:noFill/>
                    </a:lnR>
                    <a:lnT>
                      <a:noFill/>
                    </a:lnT>
                    <a:lnB>
                      <a:noFill/>
                    </a:lnB>
                  </a:tcPr>
                </a:tc>
                <a:tc>
                  <a:txBody>
                    <a:bodyPr/>
                    <a:lstStyle/>
                    <a:p>
                      <a:r>
                        <a:rPr lang="en-US" dirty="0"/>
                        <a:t> ✔</a:t>
                      </a:r>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Testing types understood</a:t>
                      </a:r>
                    </a:p>
                  </a:txBody>
                  <a:tcPr anchor="ctr">
                    <a:lnL>
                      <a:noFill/>
                    </a:lnL>
                    <a:lnR>
                      <a:noFill/>
                    </a:lnR>
                    <a:lnT>
                      <a:noFill/>
                    </a:lnT>
                    <a:lnB>
                      <a:noFill/>
                    </a:lnB>
                  </a:tcPr>
                </a:tc>
                <a:extLst>
                  <a:ext uri="{0D108BD9-81ED-4DB2-BD59-A6C34878D82A}">
                    <a16:rowId xmlns:a16="http://schemas.microsoft.com/office/drawing/2014/main" val="4009811083"/>
                  </a:ext>
                </a:extLst>
              </a:tr>
              <a:tr h="679324">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Unit testing framework</a:t>
                      </a:r>
                    </a:p>
                  </a:txBody>
                  <a:tcPr anchor="ctr">
                    <a:lnL>
                      <a:noFill/>
                    </a:lnL>
                    <a:lnR>
                      <a:noFill/>
                    </a:lnR>
                    <a:lnT>
                      <a:noFill/>
                    </a:lnT>
                    <a:lnB>
                      <a:noFill/>
                    </a:lnB>
                  </a:tcPr>
                </a:tc>
                <a:tc>
                  <a:txBody>
                    <a:bodyPr/>
                    <a:lstStyle/>
                    <a:p>
                      <a:r>
                        <a:rPr lang="en-US" dirty="0"/>
                        <a:t>As a student, practice unit testing examples</a:t>
                      </a:r>
                    </a:p>
                  </a:txBody>
                  <a:tcPr anchor="ctr">
                    <a:lnL>
                      <a:noFill/>
                    </a:lnL>
                    <a:lnR>
                      <a:noFill/>
                    </a:lnR>
                    <a:lnT>
                      <a:noFill/>
                    </a:lnT>
                    <a:lnB>
                      <a:noFill/>
                    </a:lnB>
                  </a:tcPr>
                </a:tc>
                <a:tc>
                  <a:txBody>
                    <a:bodyPr/>
                    <a:lstStyle/>
                    <a:p>
                      <a:r>
                        <a:rPr lang="en-US" dirty="0"/>
                        <a:t>Task - Writing unit test examples</a:t>
                      </a:r>
                    </a:p>
                  </a:txBody>
                  <a:tcPr anchor="ctr">
                    <a:lnL>
                      <a:noFill/>
                    </a:lnL>
                    <a:lnR>
                      <a:noFill/>
                    </a:lnR>
                    <a:lnT>
                      <a:noFill/>
                    </a:lnT>
                    <a:lnB>
                      <a:noFill/>
                    </a:lnB>
                  </a:tcPr>
                </a:tc>
                <a:tc>
                  <a:txBody>
                    <a:bodyPr/>
                    <a:lstStyle/>
                    <a:p>
                      <a:r>
                        <a:rPr lang="en-US" dirty="0"/>
                        <a:t> </a:t>
                      </a:r>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Unit testing understood</a:t>
                      </a:r>
                    </a:p>
                  </a:txBody>
                  <a:tcPr anchor="ctr">
                    <a:lnL>
                      <a:noFill/>
                    </a:lnL>
                    <a:lnR>
                      <a:noFill/>
                    </a:lnR>
                    <a:lnT>
                      <a:noFill/>
                    </a:lnT>
                    <a:lnB>
                      <a:noFill/>
                    </a:lnB>
                  </a:tcPr>
                </a:tc>
                <a:extLst>
                  <a:ext uri="{0D108BD9-81ED-4DB2-BD59-A6C34878D82A}">
                    <a16:rowId xmlns:a16="http://schemas.microsoft.com/office/drawing/2014/main" val="3393377853"/>
                  </a:ext>
                </a:extLst>
              </a:tr>
              <a:tr h="637486">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API testing</a:t>
                      </a:r>
                    </a:p>
                  </a:txBody>
                  <a:tcPr anchor="ctr">
                    <a:lnL>
                      <a:noFill/>
                    </a:lnL>
                    <a:lnR>
                      <a:noFill/>
                    </a:lnR>
                    <a:lnT>
                      <a:noFill/>
                    </a:lnT>
                    <a:lnB>
                      <a:noFill/>
                    </a:lnB>
                  </a:tcPr>
                </a:tc>
                <a:tc>
                  <a:txBody>
                    <a:bodyPr/>
                    <a:lstStyle/>
                    <a:p>
                      <a:r>
                        <a:rPr lang="en-US" dirty="0"/>
                        <a:t>As a student, perform API testing.</a:t>
                      </a:r>
                    </a:p>
                  </a:txBody>
                  <a:tcPr anchor="ctr">
                    <a:lnL>
                      <a:noFill/>
                    </a:lnL>
                    <a:lnR>
                      <a:noFill/>
                    </a:lnR>
                    <a:lnT>
                      <a:noFill/>
                    </a:lnT>
                    <a:lnB>
                      <a:noFill/>
                    </a:lnB>
                  </a:tcPr>
                </a:tc>
                <a:tc>
                  <a:txBody>
                    <a:bodyPr/>
                    <a:lstStyle/>
                    <a:p>
                      <a:r>
                        <a:rPr lang="en-US" dirty="0"/>
                        <a:t>Task - Sending API requests</a:t>
                      </a:r>
                    </a:p>
                  </a:txBody>
                  <a:tcPr anchor="ctr">
                    <a:lnL>
                      <a:noFill/>
                    </a:lnL>
                    <a:lnR>
                      <a:noFill/>
                    </a:lnR>
                    <a:lnT>
                      <a:noFill/>
                    </a:lnT>
                    <a:lnB>
                      <a:noFill/>
                    </a:lnB>
                  </a:tcPr>
                </a:tc>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 API testing understood</a:t>
                      </a:r>
                    </a:p>
                  </a:txBody>
                  <a:tcPr anchor="ctr">
                    <a:lnL>
                      <a:noFill/>
                    </a:lnL>
                    <a:lnR>
                      <a:noFill/>
                    </a:lnR>
                    <a:lnT>
                      <a:noFill/>
                    </a:lnT>
                    <a:lnB>
                      <a:noFill/>
                    </a:lnB>
                  </a:tcPr>
                </a:tc>
                <a:extLst>
                  <a:ext uri="{0D108BD9-81ED-4DB2-BD59-A6C34878D82A}">
                    <a16:rowId xmlns:a16="http://schemas.microsoft.com/office/drawing/2014/main" val="2189329709"/>
                  </a:ext>
                </a:extLst>
              </a:tr>
              <a:tr h="637486">
                <a:tc>
                  <a:txBody>
                    <a:bodyPr/>
                    <a:lstStyle/>
                    <a:p>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Learn Web Automation</a:t>
                      </a:r>
                    </a:p>
                  </a:txBody>
                  <a:tcPr anchor="ctr">
                    <a:lnL>
                      <a:noFill/>
                    </a:lnL>
                    <a:lnR>
                      <a:noFill/>
                    </a:lnR>
                    <a:lnT>
                      <a:noFill/>
                    </a:lnT>
                    <a:lnB>
                      <a:noFill/>
                    </a:lnB>
                  </a:tcPr>
                </a:tc>
                <a:tc>
                  <a:txBody>
                    <a:bodyPr/>
                    <a:lstStyle/>
                    <a:p>
                      <a:r>
                        <a:rPr lang="en-US" dirty="0"/>
                        <a:t>As a student, automate user interactions.</a:t>
                      </a:r>
                    </a:p>
                  </a:txBody>
                  <a:tcPr anchor="ctr">
                    <a:lnL>
                      <a:noFill/>
                    </a:lnL>
                    <a:lnR>
                      <a:noFill/>
                    </a:lnR>
                    <a:lnT>
                      <a:noFill/>
                    </a:lnT>
                    <a:lnB>
                      <a:noFill/>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Task - Automating user interactions</a:t>
                      </a:r>
                    </a:p>
                  </a:txBody>
                  <a:tcPr>
                    <a:lnL>
                      <a:noFill/>
                    </a:lnL>
                    <a:lnT>
                      <a:noFill/>
                    </a:lnT>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1" i="0" u="none" strike="noStrike" cap="none" normalizeH="0" baseline="0" dirty="0">
                          <a:ln>
                            <a:noFill/>
                          </a:ln>
                          <a:solidFill>
                            <a:schemeClr val="tx1"/>
                          </a:solidFill>
                          <a:effectLst/>
                          <a:latin typeface="Arial" panose="020B0604020202020204" pitchFamily="34" charset="0"/>
                        </a:rPr>
                        <a:t>📌 </a:t>
                      </a:r>
                      <a:r>
                        <a:rPr lang="en-US" dirty="0"/>
                        <a:t> Web automation understood</a:t>
                      </a:r>
                    </a:p>
                  </a:txBody>
                  <a:tcPr>
                    <a:lnT>
                      <a:noFill/>
                    </a:lnT>
                  </a:tcPr>
                </a:tc>
                <a:extLst>
                  <a:ext uri="{0D108BD9-81ED-4DB2-BD59-A6C34878D82A}">
                    <a16:rowId xmlns:a16="http://schemas.microsoft.com/office/drawing/2014/main" val="390388275"/>
                  </a:ext>
                </a:extLst>
              </a:tr>
            </a:tbl>
          </a:graphicData>
        </a:graphic>
      </p:graphicFrame>
      <p:sp>
        <p:nvSpPr>
          <p:cNvPr id="10" name="Rectangle 1">
            <a:extLst>
              <a:ext uri="{FF2B5EF4-FFF2-40B4-BE49-F238E27FC236}">
                <a16:creationId xmlns:a16="http://schemas.microsoft.com/office/drawing/2014/main" id="{E22E92D4-E577-4820-8181-BFD907F21534}"/>
              </a:ext>
            </a:extLst>
          </p:cNvPr>
          <p:cNvSpPr>
            <a:spLocks noChangeArrowheads="1"/>
          </p:cNvSpPr>
          <p:nvPr/>
        </p:nvSpPr>
        <p:spPr bwMode="auto">
          <a:xfrm>
            <a:off x="148926" y="182876"/>
            <a:ext cx="11311466"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a:t>
            </a:r>
            <a:r>
              <a:rPr kumimoji="0" lang="en-US" altLang="en-US" sz="1400" b="1" i="0" u="none" strike="noStrike" cap="none" normalizeH="0" baseline="0" dirty="0">
                <a:ln>
                  <a:noFill/>
                </a:ln>
                <a:solidFill>
                  <a:schemeClr val="tx1"/>
                </a:solidFill>
                <a:effectLst/>
                <a:latin typeface="Arial" panose="020B0604020202020204" pitchFamily="34" charset="0"/>
              </a:rPr>
              <a:t> </a:t>
            </a:r>
            <a:r>
              <a:rPr kumimoji="0" lang="en-US" altLang="en-US" b="1" i="0" u="none" strike="noStrike" cap="none" normalizeH="0" baseline="0" dirty="0">
                <a:ln>
                  <a:noFill/>
                </a:ln>
                <a:solidFill>
                  <a:schemeClr val="tx1"/>
                </a:solidFill>
                <a:effectLst/>
                <a:latin typeface="Arial" panose="020B0604020202020204" pitchFamily="34" charset="0"/>
              </a:rPr>
              <a:t>Scrum Board – Learning Sprint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400" b="1" dirty="0">
                <a:latin typeface="Arial" panose="020B0604020202020204" pitchFamily="34" charset="0"/>
              </a:rPr>
              <a:t>      </a:t>
            </a:r>
            <a:r>
              <a:rPr kumimoji="0" lang="en-US" altLang="en-US" sz="1400" b="1" i="0" u="none" strike="noStrike" cap="none" normalizeH="0" baseline="0" dirty="0">
                <a:ln>
                  <a:noFill/>
                </a:ln>
                <a:solidFill>
                  <a:schemeClr val="tx1"/>
                </a:solidFill>
                <a:effectLst/>
                <a:latin typeface="Arial" panose="020B0604020202020204" pitchFamily="34" charset="0"/>
              </a:rPr>
              <a:t>🟣 EPIC</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b="1" dirty="0">
                <a:latin typeface="Arial" panose="020B0604020202020204" pitchFamily="34" charset="0"/>
              </a:rPr>
              <a:t>	</a:t>
            </a:r>
            <a:r>
              <a:rPr lang="en-US" altLang="en-US" sz="1400" dirty="0">
                <a:latin typeface="Arial" panose="020B0604020202020204" pitchFamily="34" charset="0"/>
              </a:rPr>
              <a:t>Understand Agile Software Engineering Practice to become Industry-Ready</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rPr>
              <a:t>      📌 SPRINT GOAL</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b="1" dirty="0">
                <a:latin typeface="Arial" panose="020B0604020202020204" pitchFamily="34" charset="0"/>
              </a:rPr>
              <a:t>	</a:t>
            </a:r>
            <a:r>
              <a:rPr lang="en-US" altLang="en-US" sz="1400" dirty="0">
                <a:latin typeface="Arial" panose="020B0604020202020204" pitchFamily="34" charset="0"/>
              </a:rPr>
              <a:t>Learn Agile software development practice so that I can implement it in my projects.</a:t>
            </a:r>
          </a:p>
        </p:txBody>
      </p:sp>
    </p:spTree>
    <p:extLst>
      <p:ext uri="{BB962C8B-B14F-4D97-AF65-F5344CB8AC3E}">
        <p14:creationId xmlns:p14="http://schemas.microsoft.com/office/powerpoint/2010/main" val="3426727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3677</TotalTime>
  <Words>1643</Words>
  <Application>Microsoft Office PowerPoint</Application>
  <PresentationFormat>Widescreen</PresentationFormat>
  <Paragraphs>265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Montserrat</vt:lpstr>
      <vt:lpstr>Office Theme</vt:lpstr>
      <vt:lpstr>  From Classroom to Corporate:  Agile, Software Testing &amp; Automation</vt:lpstr>
      <vt:lpstr>Traditional Software Development Methodology </vt:lpstr>
      <vt:lpstr>PowerPoint Presentation</vt:lpstr>
      <vt:lpstr>Agile process(model) in Software Engineering</vt:lpstr>
      <vt:lpstr>Agile process(model) in Software Engineering</vt:lpstr>
      <vt:lpstr>Agile Software Engineering Process</vt:lpstr>
      <vt:lpstr>Agile process in Software Engineering</vt:lpstr>
      <vt:lpstr>Agile process models in Software Engineering – QA Workflow</vt:lpstr>
      <vt:lpstr>Agile process models in Software Engineering – Planning Board</vt:lpstr>
      <vt:lpstr>Agile process models in Software Engineering</vt:lpstr>
      <vt:lpstr>A Functional Delivery in Agile Software Engineering Process</vt:lpstr>
      <vt:lpstr>A Functional Use Case-2 Explained</vt:lpstr>
      <vt:lpstr>PowerPoint Presentation</vt:lpstr>
      <vt:lpstr>Software Testing</vt:lpstr>
      <vt:lpstr>Software Testing Types</vt:lpstr>
      <vt:lpstr>Software Testing Types</vt:lpstr>
      <vt:lpstr>Software Testing Types</vt:lpstr>
      <vt:lpstr>Software Testing Types</vt:lpstr>
      <vt:lpstr>Software Testing Types</vt:lpstr>
      <vt:lpstr>Software Testing Types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 Testing</dc:title>
  <dc:creator>JADAM Saikumar</dc:creator>
  <cp:lastModifiedBy>JADAM Saikumar</cp:lastModifiedBy>
  <cp:revision>187</cp:revision>
  <dcterms:created xsi:type="dcterms:W3CDTF">2026-01-30T04:53:49Z</dcterms:created>
  <dcterms:modified xsi:type="dcterms:W3CDTF">2026-02-19T01:16:46Z</dcterms:modified>
</cp:coreProperties>
</file>